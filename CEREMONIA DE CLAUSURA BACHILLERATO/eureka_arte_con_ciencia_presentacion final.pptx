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4" r:id="rId4"/>
    <p:sldId id="272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5" r:id="rId14"/>
    <p:sldId id="266" r:id="rId15"/>
    <p:sldId id="267" r:id="rId16"/>
    <p:sldId id="268" r:id="rId17"/>
    <p:sldId id="276" r:id="rId18"/>
    <p:sldId id="269" r:id="rId19"/>
    <p:sldId id="271" r:id="rId20"/>
    <p:sldId id="270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8F0"/>
    <a:srgbClr val="7E737B"/>
    <a:srgbClr val="818CF8"/>
    <a:srgbClr val="636B84"/>
    <a:srgbClr val="8D94A1"/>
    <a:srgbClr val="22D3EE"/>
    <a:srgbClr val="FB7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7" d="100"/>
          <a:sy n="57" d="100"/>
        </p:scale>
        <p:origin x="5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69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10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20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94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88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0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1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5.pn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1.png"/><Relationship Id="rId10" Type="http://schemas.openxmlformats.org/officeDocument/2006/relationships/image" Target="../media/image53.png"/><Relationship Id="rId4" Type="http://schemas.openxmlformats.org/officeDocument/2006/relationships/image" Target="../media/image49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6.png"/><Relationship Id="rId7" Type="http://schemas.openxmlformats.org/officeDocument/2006/relationships/image" Target="../media/image41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1.png"/><Relationship Id="rId10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5.png"/><Relationship Id="rId7" Type="http://schemas.openxmlformats.org/officeDocument/2006/relationships/image" Target="../media/image41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71.png"/><Relationship Id="rId5" Type="http://schemas.openxmlformats.org/officeDocument/2006/relationships/image" Target="../media/image67.png"/><Relationship Id="rId10" Type="http://schemas.openxmlformats.org/officeDocument/2006/relationships/image" Target="../media/image70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8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93.png"/><Relationship Id="rId3" Type="http://schemas.openxmlformats.org/officeDocument/2006/relationships/image" Target="../media/image78.png"/><Relationship Id="rId7" Type="http://schemas.openxmlformats.org/officeDocument/2006/relationships/image" Target="../media/image90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92.png"/><Relationship Id="rId5" Type="http://schemas.openxmlformats.org/officeDocument/2006/relationships/image" Target="../media/image89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78.png"/><Relationship Id="rId7" Type="http://schemas.openxmlformats.org/officeDocument/2006/relationships/image" Target="../media/image83.png"/><Relationship Id="rId12" Type="http://schemas.openxmlformats.org/officeDocument/2006/relationships/image" Target="../media/image9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92.png"/><Relationship Id="rId4" Type="http://schemas.openxmlformats.org/officeDocument/2006/relationships/image" Target="../media/image79.png"/><Relationship Id="rId9" Type="http://schemas.openxmlformats.org/officeDocument/2006/relationships/image" Target="../media/image8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8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9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25.png"/><Relationship Id="rId7" Type="http://schemas.openxmlformats.org/officeDocument/2006/relationships/image" Target="../media/image99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2.png"/><Relationship Id="rId5" Type="http://schemas.openxmlformats.org/officeDocument/2006/relationships/image" Target="../media/image1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Relationship Id="rId14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6476695" y="-1904695"/>
            <a:ext cx="7619695" cy="76196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-1913670" y="1437894"/>
            <a:ext cx="8572500" cy="85725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857500" y="190195"/>
            <a:ext cx="6476695" cy="6476695"/>
          </a:xfrm>
          <a:prstGeom prst="ellips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3"/>
          <p:cNvSpPr/>
          <p:nvPr/>
        </p:nvSpPr>
        <p:spPr>
          <a:xfrm>
            <a:off x="6086246" y="181051"/>
            <a:ext cx="95098" cy="9509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E11D48">
                <a:alpha val="10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4"/>
          <p:cNvSpPr/>
          <p:nvPr/>
        </p:nvSpPr>
        <p:spPr>
          <a:xfrm>
            <a:off x="6086246" y="6562649"/>
            <a:ext cx="95098" cy="9509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2DD4BF">
                <a:alpha val="10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5"/>
          <p:cNvSpPr txBox="1"/>
          <p:nvPr/>
        </p:nvSpPr>
        <p:spPr>
          <a:xfrm>
            <a:off x="3818077" y="4024274"/>
            <a:ext cx="4726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ARTE</a:t>
            </a:r>
            <a:r>
              <a:rPr lang="en-US" sz="150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Playfair Display" pitchFamily="34" charset="-120"/>
              </a:rPr>
              <a:t>        </a:t>
            </a:r>
            <a:r>
              <a:rPr lang="en-US" sz="3600" i="1" dirty="0">
                <a:solidFill>
                  <a:srgbClr val="FFFFFF"/>
                </a:solidFill>
                <a:latin typeface="Playfair Display" pitchFamily="34" charset="0"/>
                <a:ea typeface="ui-sans-serif" pitchFamily="34" charset="-122"/>
                <a:cs typeface="Playfair Display" pitchFamily="34" charset="-120"/>
              </a:rPr>
              <a:t>CONC</a:t>
            </a:r>
            <a:r>
              <a:rPr lang="en-US" sz="3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IENCIA</a:t>
            </a:r>
            <a:endParaRPr lang="en-US" sz="3600" dirty="0"/>
          </a:p>
        </p:txBody>
      </p:sp>
      <p:sp>
        <p:nvSpPr>
          <p:cNvPr id="11" name="Text 6"/>
          <p:cNvSpPr txBox="1"/>
          <p:nvPr/>
        </p:nvSpPr>
        <p:spPr>
          <a:xfrm>
            <a:off x="3845966" y="4714646"/>
            <a:ext cx="45061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45" dirty="0">
                <a:solidFill>
                  <a:srgbClr val="F3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viaje entre el </a:t>
            </a:r>
            <a:r>
              <a:rPr lang="en-US" sz="1800" kern="0" spc="45" dirty="0" err="1">
                <a:solidFill>
                  <a:srgbClr val="F3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arte</a:t>
            </a:r>
            <a:r>
              <a:rPr lang="en-US" sz="1800" kern="0" spc="45" dirty="0">
                <a:solidFill>
                  <a:srgbClr val="F3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la </a:t>
            </a:r>
            <a:r>
              <a:rPr lang="en-US" sz="1800" kern="0" spc="45" dirty="0" err="1">
                <a:solidFill>
                  <a:srgbClr val="F3F4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desición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3281782" y="2180844"/>
            <a:ext cx="5629961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48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EUREKA</a:t>
            </a:r>
            <a:endParaRPr lang="en-US" sz="9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4000" r="-4000"/>
          <a:stretch/>
        </p:blipFill>
        <p:spPr>
          <a:xfrm>
            <a:off x="4319626" y="3532327"/>
            <a:ext cx="123444" cy="114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477817" y="3557473"/>
            <a:ext cx="21698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Duración Estimada: 90 Min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l="-3440" r="-3440"/>
          <a:stretch/>
        </p:blipFill>
        <p:spPr>
          <a:xfrm>
            <a:off x="7054596" y="3589477"/>
            <a:ext cx="152705" cy="1143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244791" y="3581705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Actos</a:t>
            </a:r>
            <a:endParaRPr lang="en-US" sz="900" dirty="0"/>
          </a:p>
        </p:txBody>
      </p:sp>
      <p:pic>
        <p:nvPicPr>
          <p:cNvPr id="21" name="Imagen 20" descr="Icono&#10;&#10;Descripción generada automáticamente con confianza media">
            <a:extLst>
              <a:ext uri="{FF2B5EF4-FFF2-40B4-BE49-F238E27FC236}">
                <a16:creationId xmlns:a16="http://schemas.microsoft.com/office/drawing/2014/main" id="{C32754AB-52D5-8281-1BA3-1F10235151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682" y="181051"/>
            <a:ext cx="2851405" cy="1193721"/>
          </a:xfrm>
          <a:prstGeom prst="rect">
            <a:avLst/>
          </a:prstGeom>
        </p:spPr>
      </p:pic>
      <p:pic>
        <p:nvPicPr>
          <p:cNvPr id="23" name="Imagen 2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9284EAF-9265-255C-30F2-F91E280C26E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3871"/>
          <a:stretch/>
        </p:blipFill>
        <p:spPr>
          <a:xfrm>
            <a:off x="8352128" y="-171722"/>
            <a:ext cx="3905421" cy="2076874"/>
          </a:xfrm>
          <a:prstGeom prst="rect">
            <a:avLst/>
          </a:prstGeom>
        </p:spPr>
      </p:pic>
      <p:sp>
        <p:nvSpPr>
          <p:cNvPr id="24" name="Text 8">
            <a:extLst>
              <a:ext uri="{FF2B5EF4-FFF2-40B4-BE49-F238E27FC236}">
                <a16:creationId xmlns:a16="http://schemas.microsoft.com/office/drawing/2014/main" id="{7830CB59-7DBC-1EF9-4161-7E2E14EDC2B5}"/>
              </a:ext>
            </a:extLst>
          </p:cNvPr>
          <p:cNvSpPr txBox="1"/>
          <p:nvPr/>
        </p:nvSpPr>
        <p:spPr>
          <a:xfrm>
            <a:off x="9572986" y="6391898"/>
            <a:ext cx="21698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 err="1">
                <a:solidFill>
                  <a:srgbClr val="9CA3AF"/>
                </a:solidFill>
                <a:latin typeface="Montserrat" pitchFamily="34" charset="0"/>
              </a:rPr>
              <a:t>Presentación</a:t>
            </a: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</a:rPr>
              <a:t> y </a:t>
            </a:r>
            <a:r>
              <a:rPr lang="en-US" sz="900" b="1" kern="0" spc="90" dirty="0" err="1">
                <a:solidFill>
                  <a:srgbClr val="9CA3AF"/>
                </a:solidFill>
                <a:latin typeface="Montserrat" pitchFamily="34" charset="0"/>
              </a:rPr>
              <a:t>guion</a:t>
            </a: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</a:rPr>
              <a:t> </a:t>
            </a:r>
            <a:r>
              <a:rPr lang="en-US" sz="900" b="1" kern="0" spc="90" dirty="0" err="1">
                <a:solidFill>
                  <a:srgbClr val="9CA3AF"/>
                </a:solidFill>
                <a:latin typeface="Montserrat" pitchFamily="34" charset="0"/>
              </a:rPr>
              <a:t>técnico</a:t>
            </a: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</a:rPr>
              <a:t> </a:t>
            </a:r>
            <a:r>
              <a:rPr lang="en-US" sz="900" b="1" kern="0" spc="90" dirty="0" err="1">
                <a:solidFill>
                  <a:srgbClr val="9CA3AF"/>
                </a:solidFill>
                <a:latin typeface="Montserrat" pitchFamily="34" charset="0"/>
              </a:rPr>
              <a:t>por</a:t>
            </a: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</a:rPr>
              <a:t> : Geraldine Carroll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429500" y="-2857500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3524098"/>
            <a:ext cx="6667805" cy="66678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3074" y="106249"/>
            <a:ext cx="12191695" cy="6858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14807" y="923544"/>
            <a:ext cx="557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Objetivos del Proyecto </a:t>
            </a:r>
          </a:p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609905" y="1837944"/>
            <a:ext cx="5486095" cy="1347825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4"/>
          <p:cNvSpPr txBox="1"/>
          <p:nvPr/>
        </p:nvSpPr>
        <p:spPr>
          <a:xfrm>
            <a:off x="1762049" y="1969618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Identidad y Autonomía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1762049" y="2312518"/>
            <a:ext cx="39438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Explorar la construcción del ser a través del arte, cuestionando si somos personajes de una historia preescrita o autores de nuestro propio destino.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601523" y="5067349"/>
            <a:ext cx="5494324" cy="995783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7"/>
          <p:cNvSpPr txBox="1"/>
          <p:nvPr/>
        </p:nvSpPr>
        <p:spPr>
          <a:xfrm>
            <a:off x="1762049" y="5157369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Articulación de Lenguajes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1723642" y="5465218"/>
            <a:ext cx="39438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Integrar expression corporal (danza y teatro) ,  Música y artes visuales no como elementos aislados, sino como lenguajes complementarios que narran la historia al unísono.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1742846" y="3833622"/>
            <a:ext cx="39438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609905" y="3682999"/>
            <a:ext cx="5486095" cy="990296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3"/>
          <p:cNvSpPr txBox="1"/>
          <p:nvPr/>
        </p:nvSpPr>
        <p:spPr>
          <a:xfrm>
            <a:off x="1704440" y="3742844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Camino al Eureka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1713585" y="4078781"/>
            <a:ext cx="39438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Guiar al público en un viaje introspectivo desde la duda existencial inicial hasta el hallazgo revelador y liberador: el momento Eureka.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5424221" y="694944"/>
            <a:ext cx="1353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Propósito y Visión</a:t>
            </a:r>
            <a:endParaRPr lang="en-US" sz="9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018710F1-650D-E6A1-9A2A-750036F9C337}"/>
              </a:ext>
            </a:extLst>
          </p:cNvPr>
          <p:cNvSpPr txBox="1"/>
          <p:nvPr/>
        </p:nvSpPr>
        <p:spPr>
          <a:xfrm>
            <a:off x="6240171" y="912368"/>
            <a:ext cx="557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90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Conceptos</a:t>
            </a: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clave</a:t>
            </a:r>
          </a:p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10DACF9-EF8E-D218-647D-E485F7560588}"/>
              </a:ext>
            </a:extLst>
          </p:cNvPr>
          <p:cNvSpPr txBox="1"/>
          <p:nvPr/>
        </p:nvSpPr>
        <p:spPr>
          <a:xfrm>
            <a:off x="6895185" y="2281936"/>
            <a:ext cx="48799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  <a:latin typeface="Montserrat" panose="00000500000000000000" pitchFamily="2" charset="0"/>
              </a:rPr>
              <a:t>En las artes,  la identidad se construye a través de la exploración creativa y la reflexión personal. El proceso artístico permite cuestionar influencias culturales, sociales y narrativas heredadas. Crear arte es un acto de agencia que fortalece la voz propia.</a:t>
            </a:r>
            <a:endParaRPr lang="es-CO" sz="1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E07C1EE-FFBA-0EF6-B4DC-8BF9F72C095C}"/>
              </a:ext>
            </a:extLst>
          </p:cNvPr>
          <p:cNvSpPr/>
          <p:nvPr/>
        </p:nvSpPr>
        <p:spPr>
          <a:xfrm>
            <a:off x="6280415" y="1782631"/>
            <a:ext cx="5486095" cy="1347825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AD361237-89AE-F70D-90B0-B567FFE0AB39}"/>
              </a:ext>
            </a:extLst>
          </p:cNvPr>
          <p:cNvSpPr txBox="1"/>
          <p:nvPr/>
        </p:nvSpPr>
        <p:spPr>
          <a:xfrm>
            <a:off x="6948983" y="1953667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Identidad </a:t>
            </a:r>
            <a:endParaRPr lang="en-US" sz="15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F63185B8-0548-0DB3-6C7F-C731B478A511}"/>
              </a:ext>
            </a:extLst>
          </p:cNvPr>
          <p:cNvSpPr/>
          <p:nvPr/>
        </p:nvSpPr>
        <p:spPr>
          <a:xfrm>
            <a:off x="6283605" y="3323591"/>
            <a:ext cx="5486095" cy="1347825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60BBDDEC-D8F6-AF78-F0E9-04CAB8510F66}"/>
              </a:ext>
            </a:extLst>
          </p:cNvPr>
          <p:cNvSpPr/>
          <p:nvPr/>
        </p:nvSpPr>
        <p:spPr>
          <a:xfrm>
            <a:off x="6283604" y="4809238"/>
            <a:ext cx="5486095" cy="1347825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E470C4C4-DEE8-B53E-8C6C-94AB6B5A78E1}"/>
              </a:ext>
            </a:extLst>
          </p:cNvPr>
          <p:cNvSpPr txBox="1"/>
          <p:nvPr/>
        </p:nvSpPr>
        <p:spPr>
          <a:xfrm>
            <a:off x="6962241" y="3471152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</a:rPr>
              <a:t>Comunicacion</a:t>
            </a:r>
            <a:endParaRPr lang="en-US" sz="15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681F1AB-49CD-55CA-FA83-3488881B5D1D}"/>
              </a:ext>
            </a:extLst>
          </p:cNvPr>
          <p:cNvSpPr txBox="1"/>
          <p:nvPr/>
        </p:nvSpPr>
        <p:spPr>
          <a:xfrm>
            <a:off x="6869581" y="3759841"/>
            <a:ext cx="4391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  <a:latin typeface="Montserrat" panose="00000500000000000000" pitchFamily="2" charset="0"/>
              </a:rPr>
              <a:t>Las artes son un medio intencional de comunicación de significado. A través de símbolos, técnicas y decisiones estéticas, el artista transmite perspectivas y emociones. Implica generar diálogo crítico con la audiencia.</a:t>
            </a:r>
            <a:endParaRPr lang="es-CO" sz="1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2FB81732-57E4-A889-689D-E599029019A6}"/>
              </a:ext>
            </a:extLst>
          </p:cNvPr>
          <p:cNvSpPr txBox="1"/>
          <p:nvPr/>
        </p:nvSpPr>
        <p:spPr>
          <a:xfrm>
            <a:off x="6962241" y="4933846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</a:rPr>
              <a:t>Narrativa</a:t>
            </a:r>
            <a:endParaRPr lang="en-US" sz="15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B164AF5-F52D-D8C1-C56A-4A748AC21696}"/>
              </a:ext>
            </a:extLst>
          </p:cNvPr>
          <p:cNvSpPr txBox="1"/>
          <p:nvPr/>
        </p:nvSpPr>
        <p:spPr>
          <a:xfrm>
            <a:off x="6869581" y="5248070"/>
            <a:ext cx="393486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00" dirty="0">
                <a:solidFill>
                  <a:schemeClr val="bg1"/>
                </a:solidFill>
                <a:latin typeface="Montserrat" panose="00000500000000000000" pitchFamily="2" charset="0"/>
              </a:rPr>
              <a:t>La narrativa organiza experiencias y construye sentido cultural. Analizar y reinterpretar narrativas permite comprender cómo se configuran identidades y valores. Transformar narrativas es una forma de pensamiento crítico y creativo.</a:t>
            </a:r>
            <a:endParaRPr lang="es-CO" sz="1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5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571230" y="-1552651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3524098"/>
            <a:ext cx="6667805" cy="666780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609925" y="1085393"/>
            <a:ext cx="69718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90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Habilidades</a:t>
            </a: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a </a:t>
            </a:r>
            <a:r>
              <a:rPr lang="en-US" sz="3600" b="1" kern="0" spc="90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desarrollar</a:t>
            </a: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</a:p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609905" y="1837944"/>
            <a:ext cx="5486095" cy="1347825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4"/>
          <p:cNvSpPr txBox="1"/>
          <p:nvPr/>
        </p:nvSpPr>
        <p:spPr>
          <a:xfrm>
            <a:off x="1762049" y="1969618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Habilidad</a:t>
            </a: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pensamiento</a:t>
            </a: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critico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1762049" y="2312518"/>
            <a:ext cx="39438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Analisis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Interpretación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evaluación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Sintesis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6248400" y="3682999"/>
            <a:ext cx="5494324" cy="1412340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7"/>
          <p:cNvSpPr txBox="1"/>
          <p:nvPr/>
        </p:nvSpPr>
        <p:spPr>
          <a:xfrm>
            <a:off x="6564018" y="3761842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Habilidades</a:t>
            </a: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</a:rPr>
              <a:t> de autogestion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6587793" y="4162349"/>
            <a:ext cx="39438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Establecimiento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metas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objetivos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Organización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del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tiempo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Desarrollo de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habilidades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técnicas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Optimización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recursos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1742846" y="3833622"/>
            <a:ext cx="39438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609905" y="3682999"/>
            <a:ext cx="5486095" cy="1412340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3"/>
          <p:cNvSpPr txBox="1"/>
          <p:nvPr/>
        </p:nvSpPr>
        <p:spPr>
          <a:xfrm>
            <a:off x="1704440" y="3742844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Habilidades</a:t>
            </a: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sociales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1713585" y="4078781"/>
            <a:ext cx="3943807" cy="101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Trabajo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colaborativo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Rol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Compromiso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comunitario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Trabajo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en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equipo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 algn="l">
              <a:buFont typeface="Courier New" panose="02070309020205020404" pitchFamily="49" charset="0"/>
              <a:buChar char="o"/>
            </a:pP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9DAB629D-BB87-0029-634B-ED5822B1DD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674100" y="-1552651"/>
            <a:ext cx="5715000" cy="5715000"/>
          </a:xfrm>
          <a:prstGeom prst="rect">
            <a:avLst/>
          </a:prstGeom>
        </p:spPr>
      </p:pic>
      <p:sp>
        <p:nvSpPr>
          <p:cNvPr id="13" name="Shape 3">
            <a:extLst>
              <a:ext uri="{FF2B5EF4-FFF2-40B4-BE49-F238E27FC236}">
                <a16:creationId xmlns:a16="http://schemas.microsoft.com/office/drawing/2014/main" id="{C99717BD-A5DE-6308-7AD3-F9A2A66C7F10}"/>
              </a:ext>
            </a:extLst>
          </p:cNvPr>
          <p:cNvSpPr/>
          <p:nvPr/>
        </p:nvSpPr>
        <p:spPr>
          <a:xfrm>
            <a:off x="6248400" y="1861719"/>
            <a:ext cx="5486095" cy="1347825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FC9C27B0-7822-434E-9EA1-1086816D650C}"/>
              </a:ext>
            </a:extLst>
          </p:cNvPr>
          <p:cNvSpPr txBox="1"/>
          <p:nvPr/>
        </p:nvSpPr>
        <p:spPr>
          <a:xfrm>
            <a:off x="6564018" y="1969618"/>
            <a:ext cx="3982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Habilidades</a:t>
            </a: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</a:rPr>
              <a:t> de </a:t>
            </a: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pensamiento</a:t>
            </a: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layfair Display" pitchFamily="34" charset="0"/>
              </a:rPr>
              <a:t>creativo</a:t>
            </a:r>
            <a:endParaRPr lang="en-US" sz="1500" dirty="0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FCF7322C-18CA-F970-1DEE-144D87D55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Trabajo colaborativo, Rol, Compromiso comunitario. 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B35CCD2E-61FD-6531-30BD-DC3C5B42A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Trabajo colaborativo, Rol, Compromiso comunitario. </a:t>
            </a: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3606F085-E28B-CFDD-BB9D-3CFD9608F937}"/>
              </a:ext>
            </a:extLst>
          </p:cNvPr>
          <p:cNvSpPr txBox="1"/>
          <p:nvPr/>
        </p:nvSpPr>
        <p:spPr>
          <a:xfrm>
            <a:off x="6564018" y="2328977"/>
            <a:ext cx="39438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Composición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Generación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de ideas</a:t>
            </a: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Transformación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 algn="l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Conexión</a:t>
            </a:r>
            <a:r>
              <a:rPr lang="en-US" sz="1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ontserrat" panose="00000500000000000000" pitchFamily="2" charset="0"/>
              </a:rPr>
              <a:t>interdisciplinaria</a:t>
            </a:r>
            <a:endParaRPr lang="en-US" sz="1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385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1429207" y="95280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8858707" y="1619402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-122988" y="-295351"/>
            <a:ext cx="12191695" cy="6858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52298" y="457200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de Producción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514807" y="685800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Formato y Estructura Escénica</a:t>
            </a:r>
            <a:endParaRPr lang="en-US" sz="3600" dirty="0"/>
          </a:p>
        </p:txBody>
      </p:sp>
      <p:sp>
        <p:nvSpPr>
          <p:cNvPr id="9" name="Shape 4"/>
          <p:cNvSpPr/>
          <p:nvPr/>
        </p:nvSpPr>
        <p:spPr>
          <a:xfrm>
            <a:off x="754837" y="1454354"/>
            <a:ext cx="2257654" cy="1037386"/>
          </a:xfrm>
          <a:prstGeom prst="roundRect">
            <a:avLst>
              <a:gd name="adj" fmla="val 14534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5"/>
          <p:cNvSpPr txBox="1"/>
          <p:nvPr/>
        </p:nvSpPr>
        <p:spPr>
          <a:xfrm>
            <a:off x="1057961" y="1556309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</a:rPr>
              <a:t>Lugar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1447495" y="192481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Teatro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Willam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Shakespeare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621378" y="1514246"/>
            <a:ext cx="1657807" cy="977494"/>
          </a:xfrm>
          <a:prstGeom prst="roundRect">
            <a:avLst>
              <a:gd name="adj" fmla="val 14534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8"/>
          <p:cNvSpPr txBox="1"/>
          <p:nvPr/>
        </p:nvSpPr>
        <p:spPr>
          <a:xfrm>
            <a:off x="4936388" y="1647749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Duración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5049544" y="1927097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 Minutos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267651" y="1524305"/>
            <a:ext cx="4707331" cy="991210"/>
          </a:xfrm>
          <a:prstGeom prst="roundRect">
            <a:avLst>
              <a:gd name="adj" fmla="val 14534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1"/>
          <p:cNvSpPr txBox="1"/>
          <p:nvPr/>
        </p:nvSpPr>
        <p:spPr>
          <a:xfrm>
            <a:off x="7701991" y="1647749"/>
            <a:ext cx="1743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</a:rPr>
              <a:t>Puesta en escéna: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8294293" y="2005279"/>
            <a:ext cx="3396539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Actuacion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y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presentacion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de danza y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musica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6° a 9°.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Presentaciones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de danza y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musica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10 y 11°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609905" y="4572000"/>
            <a:ext cx="109728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4"/>
          <p:cNvSpPr txBox="1"/>
          <p:nvPr/>
        </p:nvSpPr>
        <p:spPr>
          <a:xfrm>
            <a:off x="3457346" y="618134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000000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CÁLIDO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4199609" y="6147968"/>
            <a:ext cx="25557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FLUJO DE TEMPERATURA ESCÉNICA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>
            <a:alphaModFix amt="70000"/>
          </a:blip>
          <a:srcRect t="-438" b="-438"/>
          <a:stretch/>
        </p:blipFill>
        <p:spPr>
          <a:xfrm>
            <a:off x="2434590" y="6182517"/>
            <a:ext cx="1486815" cy="14064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09905" y="2790749"/>
            <a:ext cx="2572207" cy="3047695"/>
          </a:xfrm>
          <a:prstGeom prst="roundRect">
            <a:avLst>
              <a:gd name="adj" fmla="val 21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19"/>
          <p:cNvSpPr txBox="1"/>
          <p:nvPr/>
        </p:nvSpPr>
        <p:spPr>
          <a:xfrm>
            <a:off x="847649" y="3133649"/>
            <a:ext cx="6291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</a:t>
            </a:r>
            <a:endParaRPr lang="en-US" sz="1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 20"/>
          <p:cNvSpPr txBox="1"/>
          <p:nvPr/>
        </p:nvSpPr>
        <p:spPr>
          <a:xfrm>
            <a:off x="847649" y="3372307"/>
            <a:ext cx="21799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Amor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847649" y="3715207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Romeo y Julieta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1591056" y="4200754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rcRect/>
          <a:stretch/>
        </p:blipFill>
        <p:spPr>
          <a:xfrm>
            <a:off x="1781251" y="4390949"/>
            <a:ext cx="228600" cy="228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113739" y="5067605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Música </a:t>
            </a:r>
            <a:endParaRPr lang="en-US" sz="9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3544" y="5081321"/>
            <a:ext cx="114300" cy="1143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2323490" y="5067605"/>
            <a:ext cx="629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Danza </a:t>
            </a:r>
            <a:endParaRPr lang="en-US" sz="9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2142439" y="5081321"/>
            <a:ext cx="105156" cy="1143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10742" y="5362956"/>
            <a:ext cx="1972361" cy="238658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Atmósfera Cálida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Shape 26"/>
          <p:cNvSpPr/>
          <p:nvPr/>
        </p:nvSpPr>
        <p:spPr>
          <a:xfrm>
            <a:off x="3409798" y="2790749"/>
            <a:ext cx="2572207" cy="3047695"/>
          </a:xfrm>
          <a:prstGeom prst="roundRect">
            <a:avLst>
              <a:gd name="adj" fmla="val 21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27"/>
          <p:cNvSpPr txBox="1"/>
          <p:nvPr/>
        </p:nvSpPr>
        <p:spPr>
          <a:xfrm>
            <a:off x="3648456" y="3133649"/>
            <a:ext cx="685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</a:t>
            </a:r>
            <a:endParaRPr lang="en-US" sz="1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Text 28"/>
          <p:cNvSpPr txBox="1"/>
          <p:nvPr/>
        </p:nvSpPr>
        <p:spPr>
          <a:xfrm>
            <a:off x="3648456" y="3372307"/>
            <a:ext cx="21799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Destino</a:t>
            </a:r>
            <a:endParaRPr lang="en-US" sz="1800" dirty="0"/>
          </a:p>
        </p:txBody>
      </p:sp>
      <p:sp>
        <p:nvSpPr>
          <p:cNvPr id="41" name="Text 29"/>
          <p:cNvSpPr txBox="1"/>
          <p:nvPr/>
        </p:nvSpPr>
        <p:spPr>
          <a:xfrm>
            <a:off x="3648456" y="3715207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Mitología Griega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4390949" y="4200754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57" r="-57"/>
          <a:stretch/>
        </p:blipFill>
        <p:spPr>
          <a:xfrm>
            <a:off x="4595774" y="4390949"/>
            <a:ext cx="200254" cy="22860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3914546" y="5067605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Música </a:t>
            </a:r>
            <a:endParaRPr lang="en-US" sz="9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24351" y="5081321"/>
            <a:ext cx="114300" cy="114300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5087722" y="5067605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Danza </a:t>
            </a:r>
            <a:endParaRPr lang="en-US" sz="9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4906670" y="5081321"/>
            <a:ext cx="105156" cy="11430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3829507" y="5362956"/>
            <a:ext cx="1733702" cy="238658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Atmósfera Fría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Shape 34"/>
          <p:cNvSpPr/>
          <p:nvPr/>
        </p:nvSpPr>
        <p:spPr>
          <a:xfrm>
            <a:off x="6210605" y="2790749"/>
            <a:ext cx="2572207" cy="3047695"/>
          </a:xfrm>
          <a:prstGeom prst="roundRect">
            <a:avLst>
              <a:gd name="adj" fmla="val 21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 l="-207" r="-207"/>
          <a:stretch/>
        </p:blipFill>
        <p:spPr>
          <a:xfrm>
            <a:off x="6219749" y="2800807"/>
            <a:ext cx="2553005" cy="75895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6448349" y="3133649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818C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III</a:t>
            </a:r>
            <a:endParaRPr lang="en-US" sz="1000" dirty="0"/>
          </a:p>
        </p:txBody>
      </p:sp>
      <p:sp>
        <p:nvSpPr>
          <p:cNvPr id="52" name="Text 36"/>
          <p:cNvSpPr txBox="1"/>
          <p:nvPr/>
        </p:nvSpPr>
        <p:spPr>
          <a:xfrm>
            <a:off x="6448349" y="3372307"/>
            <a:ext cx="21799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 Cotidiano</a:t>
            </a:r>
            <a:endParaRPr lang="en-US" sz="1800" dirty="0"/>
          </a:p>
        </p:txBody>
      </p:sp>
      <p:sp>
        <p:nvSpPr>
          <p:cNvPr id="53" name="Text 37"/>
          <p:cNvSpPr txBox="1"/>
          <p:nvPr/>
        </p:nvSpPr>
        <p:spPr>
          <a:xfrm>
            <a:off x="6448349" y="3715207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12 Cuentos Peregrinos</a:t>
            </a:r>
            <a:endParaRPr lang="en-US" sz="1200" dirty="0"/>
          </a:p>
        </p:txBody>
      </p:sp>
      <p:sp>
        <p:nvSpPr>
          <p:cNvPr id="54" name="Shape 38"/>
          <p:cNvSpPr/>
          <p:nvPr/>
        </p:nvSpPr>
        <p:spPr>
          <a:xfrm>
            <a:off x="7191756" y="4200754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7353605" y="4390949"/>
            <a:ext cx="286207" cy="228600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6714439" y="5067605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Música </a:t>
            </a:r>
            <a:endParaRPr lang="en-US" sz="9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24244" y="5081321"/>
            <a:ext cx="114300" cy="114300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7894015" y="5067605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Danza </a:t>
            </a:r>
            <a:endParaRPr lang="en-US" sz="900" dirty="0"/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7712964" y="5081321"/>
            <a:ext cx="105156" cy="114300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6524244" y="5362956"/>
            <a:ext cx="1953158" cy="238658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A5B4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Atmósfera Íntima</a:t>
            </a:r>
            <a:endParaRPr lang="en-US" sz="1200" dirty="0"/>
          </a:p>
        </p:txBody>
      </p:sp>
      <p:sp>
        <p:nvSpPr>
          <p:cNvPr id="61" name="Shape 42"/>
          <p:cNvSpPr/>
          <p:nvPr/>
        </p:nvSpPr>
        <p:spPr>
          <a:xfrm>
            <a:off x="9010498" y="2790749"/>
            <a:ext cx="2572207" cy="3047695"/>
          </a:xfrm>
          <a:prstGeom prst="roundRect">
            <a:avLst>
              <a:gd name="adj" fmla="val 21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13">
            <a:alphaModFix amt="80000"/>
          </a:blip>
          <a:srcRect l="-207" r="-207"/>
          <a:stretch/>
        </p:blipFill>
        <p:spPr>
          <a:xfrm>
            <a:off x="9020556" y="2800807"/>
            <a:ext cx="2553005" cy="75895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9249156" y="3133649"/>
            <a:ext cx="743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IV</a:t>
            </a:r>
            <a:endParaRPr lang="en-US" sz="1000" dirty="0"/>
          </a:p>
        </p:txBody>
      </p:sp>
      <p:sp>
        <p:nvSpPr>
          <p:cNvPr id="64" name="Text 44"/>
          <p:cNvSpPr txBox="1"/>
          <p:nvPr/>
        </p:nvSpPr>
        <p:spPr>
          <a:xfrm>
            <a:off x="9249156" y="3372307"/>
            <a:ext cx="21799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Pasión</a:t>
            </a:r>
            <a:endParaRPr lang="en-US" sz="1800" dirty="0"/>
          </a:p>
        </p:txBody>
      </p:sp>
      <p:sp>
        <p:nvSpPr>
          <p:cNvPr id="65" name="Text 45"/>
          <p:cNvSpPr txBox="1"/>
          <p:nvPr/>
        </p:nvSpPr>
        <p:spPr>
          <a:xfrm>
            <a:off x="9249156" y="3715207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Bodas de Sangre</a:t>
            </a:r>
            <a:endParaRPr lang="en-US" sz="1200" dirty="0"/>
          </a:p>
        </p:txBody>
      </p:sp>
      <p:sp>
        <p:nvSpPr>
          <p:cNvPr id="66" name="Shape 46"/>
          <p:cNvSpPr/>
          <p:nvPr/>
        </p:nvSpPr>
        <p:spPr>
          <a:xfrm>
            <a:off x="9991649" y="4200754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7" name="Image 18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10196474" y="4390949"/>
            <a:ext cx="200254" cy="228600"/>
          </a:xfrm>
          <a:prstGeom prst="rect">
            <a:avLst/>
          </a:prstGeom>
        </p:spPr>
      </p:pic>
      <p:sp>
        <p:nvSpPr>
          <p:cNvPr id="68" name="Text 47"/>
          <p:cNvSpPr txBox="1"/>
          <p:nvPr/>
        </p:nvSpPr>
        <p:spPr>
          <a:xfrm>
            <a:off x="9515246" y="5067605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Música </a:t>
            </a:r>
            <a:endParaRPr lang="en-US" sz="900" dirty="0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25051" y="5081321"/>
            <a:ext cx="114300" cy="114300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10694822" y="5067605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Danza </a:t>
            </a:r>
            <a:endParaRPr lang="en-US" sz="900" dirty="0"/>
          </a:p>
        </p:txBody>
      </p:sp>
      <p:pic>
        <p:nvPicPr>
          <p:cNvPr id="71" name="Image 20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10513771" y="5081321"/>
            <a:ext cx="105156" cy="114300"/>
          </a:xfrm>
          <a:prstGeom prst="rect">
            <a:avLst/>
          </a:prstGeom>
        </p:spPr>
      </p:pic>
      <p:sp>
        <p:nvSpPr>
          <p:cNvPr id="72" name="Text 49"/>
          <p:cNvSpPr/>
          <p:nvPr/>
        </p:nvSpPr>
        <p:spPr>
          <a:xfrm>
            <a:off x="9254642" y="5362956"/>
            <a:ext cx="2090318" cy="238658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FCA5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Atmósfera Intensa</a:t>
            </a:r>
            <a:endParaRPr lang="en-US" sz="1200" dirty="0"/>
          </a:p>
        </p:txBody>
      </p:sp>
      <p:pic>
        <p:nvPicPr>
          <p:cNvPr id="73" name="Image 6" descr="preencoded.png">
            <a:extLst>
              <a:ext uri="{FF2B5EF4-FFF2-40B4-BE49-F238E27FC236}">
                <a16:creationId xmlns:a16="http://schemas.microsoft.com/office/drawing/2014/main" id="{CC531713-BA31-C17B-EE9D-75CA4F1E517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rcRect t="-438" b="-438"/>
          <a:stretch/>
        </p:blipFill>
        <p:spPr>
          <a:xfrm rot="10800000">
            <a:off x="7191756" y="6178143"/>
            <a:ext cx="1486815" cy="140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-289932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1429207" y="952805"/>
            <a:ext cx="4762195" cy="4762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52298" y="457200"/>
            <a:ext cx="11087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de Producción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514807" y="685800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Formato y Estructura Escénica</a:t>
            </a:r>
            <a:endParaRPr lang="en-US" sz="3600" dirty="0"/>
          </a:p>
        </p:txBody>
      </p:sp>
      <p:sp>
        <p:nvSpPr>
          <p:cNvPr id="9" name="Shape 4"/>
          <p:cNvSpPr/>
          <p:nvPr/>
        </p:nvSpPr>
        <p:spPr>
          <a:xfrm>
            <a:off x="754837" y="1454354"/>
            <a:ext cx="2257654" cy="1037386"/>
          </a:xfrm>
          <a:prstGeom prst="roundRect">
            <a:avLst>
              <a:gd name="adj" fmla="val 14534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5"/>
          <p:cNvSpPr txBox="1"/>
          <p:nvPr/>
        </p:nvSpPr>
        <p:spPr>
          <a:xfrm>
            <a:off x="1057961" y="1556309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</a:rPr>
              <a:t>Lugar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1447495" y="1924812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Teatro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Willam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Shakespeare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621378" y="1514246"/>
            <a:ext cx="1657807" cy="977494"/>
          </a:xfrm>
          <a:prstGeom prst="roundRect">
            <a:avLst>
              <a:gd name="adj" fmla="val 14534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8"/>
          <p:cNvSpPr txBox="1"/>
          <p:nvPr/>
        </p:nvSpPr>
        <p:spPr>
          <a:xfrm>
            <a:off x="4936388" y="1647749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Duración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5049544" y="1927097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 Minutos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267651" y="1524305"/>
            <a:ext cx="4707331" cy="991210"/>
          </a:xfrm>
          <a:prstGeom prst="roundRect">
            <a:avLst>
              <a:gd name="adj" fmla="val 14534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1"/>
          <p:cNvSpPr txBox="1"/>
          <p:nvPr/>
        </p:nvSpPr>
        <p:spPr>
          <a:xfrm>
            <a:off x="7701991" y="1647749"/>
            <a:ext cx="1743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Montserrat" pitchFamily="34" charset="0"/>
              </a:rPr>
              <a:t>Puesta en escéna: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8294293" y="2005279"/>
            <a:ext cx="3396539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Actuacion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y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presentacion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de danza y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musica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6° a 9°.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Presentaciones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de danza y </a:t>
            </a:r>
            <a:r>
              <a:rPr lang="en-US" sz="1200" dirty="0" err="1">
                <a:solidFill>
                  <a:srgbClr val="FFFFFF"/>
                </a:solidFill>
                <a:latin typeface="Montserrat" pitchFamily="34" charset="0"/>
              </a:rPr>
              <a:t>musica</a:t>
            </a:r>
            <a:r>
              <a:rPr lang="en-US" sz="1200" dirty="0">
                <a:solidFill>
                  <a:srgbClr val="FFFFFF"/>
                </a:solidFill>
                <a:latin typeface="Montserrat" pitchFamily="34" charset="0"/>
              </a:rPr>
              <a:t> 10 y 11°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609905" y="4572000"/>
            <a:ext cx="10972800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4"/>
          <p:cNvSpPr txBox="1"/>
          <p:nvPr/>
        </p:nvSpPr>
        <p:spPr>
          <a:xfrm>
            <a:off x="3457346" y="618134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000000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CÁLIDO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5751576" y="6182517"/>
            <a:ext cx="25557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FLUJO DE TEMPERATURA ESCÉNICA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rcRect t="-438" b="-438"/>
          <a:stretch/>
        </p:blipFill>
        <p:spPr>
          <a:xfrm>
            <a:off x="3879688" y="6195457"/>
            <a:ext cx="1578366" cy="149305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4358945" y="2790749"/>
            <a:ext cx="2572207" cy="3047695"/>
          </a:xfrm>
          <a:prstGeom prst="roundRect">
            <a:avLst>
              <a:gd name="adj" fmla="val 210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5">
            <a:alphaModFix amt="80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207" r="-207"/>
          <a:stretch/>
        </p:blipFill>
        <p:spPr>
          <a:xfrm>
            <a:off x="4333799" y="2800807"/>
            <a:ext cx="2553005" cy="75895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4596689" y="3133649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chemeClr val="accent6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V</a:t>
            </a:r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Text 36"/>
          <p:cNvSpPr txBox="1"/>
          <p:nvPr/>
        </p:nvSpPr>
        <p:spPr>
          <a:xfrm>
            <a:off x="4596689" y="3372307"/>
            <a:ext cx="21799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FFFFFF"/>
                </a:solidFill>
                <a:latin typeface="Playfair Display" pitchFamily="34" charset="0"/>
              </a:rPr>
              <a:t>Eureka</a:t>
            </a:r>
            <a:endParaRPr lang="en-US" sz="1800" dirty="0"/>
          </a:p>
        </p:txBody>
      </p:sp>
      <p:sp>
        <p:nvSpPr>
          <p:cNvPr id="53" name="Text 37"/>
          <p:cNvSpPr txBox="1"/>
          <p:nvPr/>
        </p:nvSpPr>
        <p:spPr>
          <a:xfrm>
            <a:off x="4575427" y="3833393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</a:t>
            </a:r>
            <a:r>
              <a:rPr lang="en-US" sz="120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Obra</a:t>
            </a: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literaria</a:t>
            </a: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escogida</a:t>
            </a: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</a:t>
            </a: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i="1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estudiantes</a:t>
            </a: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 Diploma</a:t>
            </a:r>
            <a:endParaRPr lang="en-US" sz="1200" dirty="0"/>
          </a:p>
        </p:txBody>
      </p:sp>
      <p:sp>
        <p:nvSpPr>
          <p:cNvPr id="54" name="Shape 38"/>
          <p:cNvSpPr/>
          <p:nvPr/>
        </p:nvSpPr>
        <p:spPr>
          <a:xfrm>
            <a:off x="5305348" y="4229556"/>
            <a:ext cx="609905" cy="6099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39"/>
          <p:cNvSpPr txBox="1"/>
          <p:nvPr/>
        </p:nvSpPr>
        <p:spPr>
          <a:xfrm>
            <a:off x="4737161" y="5166817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Música </a:t>
            </a:r>
            <a:endParaRPr lang="en-US" sz="9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1363" y="5163160"/>
            <a:ext cx="114300" cy="114300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6076645" y="5170475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Danza </a:t>
            </a:r>
            <a:endParaRPr lang="en-US" sz="900" dirty="0"/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5861304" y="5184191"/>
            <a:ext cx="105156" cy="114300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4596689" y="5465368"/>
            <a:ext cx="1953158" cy="238658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Atmósfera</a:t>
            </a:r>
            <a:r>
              <a:rPr lang="en-US" sz="1200" kern="0" spc="60" dirty="0">
                <a:solidFill>
                  <a:schemeClr val="accent6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kern="0" spc="6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alegre</a:t>
            </a: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BA64FDFF-33F9-6E51-0335-A21EDB2015AE}"/>
              </a:ext>
            </a:extLst>
          </p:cNvPr>
          <p:cNvSpPr/>
          <p:nvPr/>
        </p:nvSpPr>
        <p:spPr>
          <a:xfrm>
            <a:off x="5364439" y="4256640"/>
            <a:ext cx="491722" cy="491722"/>
          </a:xfrm>
          <a:prstGeom prst="star5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66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1904695" y="-3810305"/>
            <a:ext cx="7619695" cy="7619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6476695" y="3047695"/>
            <a:ext cx="7619695" cy="76196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493362" y="352044"/>
            <a:ext cx="32159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113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Sinopsis</a:t>
            </a:r>
            <a:endParaRPr lang="en-US" sz="4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alphaModFix amt="60000"/>
          </a:blip>
          <a:srcRect/>
          <a:stretch/>
        </p:blipFill>
        <p:spPr>
          <a:xfrm>
            <a:off x="5434279" y="85954"/>
            <a:ext cx="152705" cy="1527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00370" y="85954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Narrativa</a:t>
            </a:r>
            <a:endParaRPr lang="en-US" sz="9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rcRect l="-33" r="-33"/>
          <a:stretch/>
        </p:blipFill>
        <p:spPr>
          <a:xfrm>
            <a:off x="6586423" y="85954"/>
            <a:ext cx="171907" cy="152705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1828800" y="1304849"/>
            <a:ext cx="8534095" cy="5477256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5"/>
          <p:cNvSpPr/>
          <p:nvPr/>
        </p:nvSpPr>
        <p:spPr>
          <a:xfrm>
            <a:off x="6086246" y="1304849"/>
            <a:ext cx="95280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6"/>
          <p:cNvSpPr/>
          <p:nvPr/>
        </p:nvSpPr>
        <p:spPr>
          <a:xfrm>
            <a:off x="6086246" y="6772046"/>
            <a:ext cx="952805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7"/>
          <p:cNvSpPr txBox="1"/>
          <p:nvPr/>
        </p:nvSpPr>
        <p:spPr>
          <a:xfrm>
            <a:off x="1686154" y="1076249"/>
            <a:ext cx="621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0000">
                    <a:alpha val="1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7200" dirty="0"/>
          </a:p>
        </p:txBody>
      </p:sp>
      <p:sp>
        <p:nvSpPr>
          <p:cNvPr id="15" name="Text 8"/>
          <p:cNvSpPr txBox="1"/>
          <p:nvPr/>
        </p:nvSpPr>
        <p:spPr>
          <a:xfrm>
            <a:off x="2238451" y="1762049"/>
            <a:ext cx="7715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5E7E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Eli busca escribir su propia historia. </a:t>
            </a:r>
            <a:endParaRPr lang="en-US" sz="1800" dirty="0"/>
          </a:p>
        </p:txBody>
      </p:sp>
      <p:sp>
        <p:nvSpPr>
          <p:cNvPr id="16" name="Text 9"/>
          <p:cNvSpPr txBox="1"/>
          <p:nvPr/>
        </p:nvSpPr>
        <p:spPr>
          <a:xfrm>
            <a:off x="2295144" y="2361895"/>
            <a:ext cx="7677302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través de un viaje introspectivo por grandes referentes clásicos —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Romeo y Julieta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la 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Mitología Griega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los 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Cuentos Peregrinos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Bodas de Sangre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</a:t>
            </a:r>
            <a:r>
              <a:rPr lang="en-US" sz="13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nuestra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protagonista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3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representada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diferentes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estudiantes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 PAI) confronta las fuerzas elementales que mueven al ser humano: </a:t>
            </a:r>
            <a:r>
              <a:rPr lang="en-US" sz="13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amor la </a:t>
            </a:r>
            <a:r>
              <a:rPr lang="en-US" sz="13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tragedia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el destino implacable, la sutileza de lo cotidiano y la pasión desbordada. 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2295144" y="4114800"/>
            <a:ext cx="7677302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este recorrido, Eli se debate entre ser un personaje atrapado en un guion ajeno o convertirse en la autora de su propia existencia. Descubre que el arte no encierra, sino que hace consciente. Su viaje culmina en un hallazgo revelador y liberador: </a:t>
            </a:r>
            <a:r>
              <a:rPr lang="en-US" sz="13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Eureka</a:t>
            </a:r>
            <a:r>
              <a:rPr lang="en-US" sz="13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4803343" y="6096305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000000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Personaje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t="-43" b="-43"/>
          <a:stretch/>
        </p:blipFill>
        <p:spPr>
          <a:xfrm>
            <a:off x="6200546" y="5867705"/>
            <a:ext cx="133502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638544" y="6096305"/>
            <a:ext cx="829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000000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Autora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 rot="10800000">
            <a:off x="10052914" y="6248095"/>
            <a:ext cx="621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0000">
                    <a:alpha val="1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7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1904695" y="-4762195"/>
            <a:ext cx="8572500" cy="8572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6476695" y="3047695"/>
            <a:ext cx="7619695" cy="76196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04595" y="457200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Evolución Narrativa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09905" y="685800"/>
            <a:ext cx="7172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Arco de la Protagonista</a:t>
            </a:r>
            <a:endParaRPr lang="en-US" sz="3600" dirty="0"/>
          </a:p>
        </p:txBody>
      </p:sp>
      <p:sp>
        <p:nvSpPr>
          <p:cNvPr id="9" name="Shape 4"/>
          <p:cNvSpPr/>
          <p:nvPr/>
        </p:nvSpPr>
        <p:spPr>
          <a:xfrm>
            <a:off x="11563502" y="761695"/>
            <a:ext cx="19202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5"/>
          <p:cNvSpPr txBox="1"/>
          <p:nvPr/>
        </p:nvSpPr>
        <p:spPr>
          <a:xfrm>
            <a:off x="7239305" y="761695"/>
            <a:ext cx="4171493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"Del cuestionamiento inicial a la consciencia plena: el viaje de Eli."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66598" y="4381805"/>
            <a:ext cx="1714500" cy="1181405"/>
          </a:xfrm>
          <a:prstGeom prst="roundRect">
            <a:avLst>
              <a:gd name="adj" fmla="val 749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7"/>
          <p:cNvSpPr txBox="1"/>
          <p:nvPr/>
        </p:nvSpPr>
        <p:spPr>
          <a:xfrm>
            <a:off x="790956" y="4543654"/>
            <a:ext cx="1467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Prólogo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90956" y="4809744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Pregunta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00100" y="5115154"/>
            <a:ext cx="1448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 en duda: ¿Personaje o autora?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495398" y="2133295"/>
            <a:ext cx="1714500" cy="1181405"/>
          </a:xfrm>
          <a:prstGeom prst="roundRect">
            <a:avLst>
              <a:gd name="adj" fmla="val 749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1"/>
          <p:cNvSpPr txBox="1"/>
          <p:nvPr/>
        </p:nvSpPr>
        <p:spPr>
          <a:xfrm>
            <a:off x="2619756" y="2295144"/>
            <a:ext cx="1467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2619756" y="2562149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bg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Amor y la </a:t>
            </a:r>
            <a:r>
              <a:rPr lang="en-US" sz="1200" kern="0" spc="60" dirty="0" err="1">
                <a:solidFill>
                  <a:schemeClr val="bg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tragedia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2628900" y="2866644"/>
            <a:ext cx="1448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Idealismo vs. Elección consciente.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324198" y="4381805"/>
            <a:ext cx="1714500" cy="1181405"/>
          </a:xfrm>
          <a:prstGeom prst="roundRect">
            <a:avLst>
              <a:gd name="adj" fmla="val 749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5"/>
          <p:cNvSpPr txBox="1"/>
          <p:nvPr/>
        </p:nvSpPr>
        <p:spPr>
          <a:xfrm>
            <a:off x="4448556" y="4543654"/>
            <a:ext cx="1467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II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4448556" y="4809744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bg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Destino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4457700" y="5115154"/>
            <a:ext cx="1448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Romper el guion escrito por otros.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152998" y="2133295"/>
            <a:ext cx="1714500" cy="1181405"/>
          </a:xfrm>
          <a:prstGeom prst="roundRect">
            <a:avLst>
              <a:gd name="adj" fmla="val 749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19"/>
          <p:cNvSpPr txBox="1"/>
          <p:nvPr/>
        </p:nvSpPr>
        <p:spPr>
          <a:xfrm>
            <a:off x="6277356" y="2295144"/>
            <a:ext cx="1467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5B4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III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277356" y="2562149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bg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Cotidiano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6286500" y="2866644"/>
            <a:ext cx="1448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Hallar la verdad en lo pequeño.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981798" y="4381805"/>
            <a:ext cx="1714500" cy="1181405"/>
          </a:xfrm>
          <a:prstGeom prst="roundRect">
            <a:avLst>
              <a:gd name="adj" fmla="val 749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3"/>
          <p:cNvSpPr txBox="1"/>
          <p:nvPr/>
        </p:nvSpPr>
        <p:spPr>
          <a:xfrm>
            <a:off x="8106156" y="4543654"/>
            <a:ext cx="1467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IV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8106156" y="4809744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bg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Pasión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8115300" y="5115154"/>
            <a:ext cx="1448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Conflicto: Sentir vs. Decidir.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810598" y="2133295"/>
            <a:ext cx="1714500" cy="1181405"/>
          </a:xfrm>
          <a:prstGeom prst="roundRect">
            <a:avLst>
              <a:gd name="adj" fmla="val 749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7"/>
          <p:cNvSpPr txBox="1"/>
          <p:nvPr/>
        </p:nvSpPr>
        <p:spPr>
          <a:xfrm>
            <a:off x="9934956" y="2295144"/>
            <a:ext cx="1467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Eureka</a:t>
            </a:r>
            <a:endParaRPr lang="en-US" sz="13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9934956" y="2562149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bg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Desenlace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9944100" y="2866644"/>
            <a:ext cx="14484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Conciencia plena y autonomía total.</a:t>
            </a:r>
            <a:endParaRPr lang="en-US" sz="9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>
            <a:alphaModFix amt="40000"/>
            <a:lum bright="70000" contrast="-70000"/>
          </a:blip>
          <a:srcRect t="-43" b="-43"/>
          <a:stretch/>
        </p:blipFill>
        <p:spPr>
          <a:xfrm>
            <a:off x="4543654" y="6172200"/>
            <a:ext cx="133502" cy="15270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4753051" y="6096305"/>
            <a:ext cx="279349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Progresión del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Viaje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rcRect t="-43" b="-43"/>
          <a:stretch/>
        </p:blipFill>
        <p:spPr>
          <a:xfrm>
            <a:off x="7514539" y="6172200"/>
            <a:ext cx="133502" cy="152705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t="-402" b="-402"/>
          <a:stretch/>
        </p:blipFill>
        <p:spPr>
          <a:xfrm>
            <a:off x="1086307" y="3838651"/>
            <a:ext cx="10019995" cy="19202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1416829" y="3595878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 t="-1087" b="-1087"/>
          <a:stretch/>
        </p:blipFill>
        <p:spPr>
          <a:xfrm>
            <a:off x="2157070" y="7496251"/>
            <a:ext cx="105156" cy="171907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3810305" y="3619195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>
            <a:lum bright="70000" contrast="-70000"/>
          </a:blip>
          <a:srcRect/>
          <a:stretch/>
        </p:blipFill>
        <p:spPr>
          <a:xfrm>
            <a:off x="3952951" y="3762756"/>
            <a:ext cx="171907" cy="171907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5553151" y="3618961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>
            <a:lum bright="70000" contrast="-70000"/>
          </a:blip>
          <a:srcRect l="-760" r="-760"/>
          <a:stretch/>
        </p:blipFill>
        <p:spPr>
          <a:xfrm>
            <a:off x="5704155" y="3753143"/>
            <a:ext cx="152705" cy="171907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7467905" y="3619195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10551" y="3762756"/>
            <a:ext cx="171907" cy="171907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9372600" y="3672230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rcRect l="-760" r="-760"/>
          <a:stretch/>
        </p:blipFill>
        <p:spPr>
          <a:xfrm>
            <a:off x="9539557" y="3771899"/>
            <a:ext cx="152705" cy="171907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11125505" y="3619195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282782" y="3752698"/>
            <a:ext cx="142646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95905" y="-1904695"/>
            <a:ext cx="7619695" cy="7619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/>
        </p:blipFill>
        <p:spPr>
          <a:xfrm>
            <a:off x="7905902" y="2585140"/>
            <a:ext cx="5715000" cy="5715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3810305" cy="685800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3"/>
          <p:cNvSpPr/>
          <p:nvPr/>
        </p:nvSpPr>
        <p:spPr>
          <a:xfrm>
            <a:off x="3801161" y="0"/>
            <a:ext cx="9144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4"/>
          <p:cNvSpPr/>
          <p:nvPr/>
        </p:nvSpPr>
        <p:spPr>
          <a:xfrm>
            <a:off x="381305" y="2536546"/>
            <a:ext cx="30385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 txBox="1"/>
          <p:nvPr/>
        </p:nvSpPr>
        <p:spPr>
          <a:xfrm>
            <a:off x="381305" y="1088136"/>
            <a:ext cx="31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Guion Técnico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81305" y="1431036"/>
            <a:ext cx="3229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Prólogo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381305" y="1964131"/>
            <a:ext cx="31528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Pregunta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81305" y="3059582"/>
            <a:ext cx="75895" cy="75895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12700" dir="16200000" algn="bl" rotWithShape="0">
              <a:srgbClr val="FB7185">
                <a:alpha val="10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 txBox="1"/>
          <p:nvPr/>
        </p:nvSpPr>
        <p:spPr>
          <a:xfrm>
            <a:off x="609905" y="3002890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Escenario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09905" y="3231490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Vacío. Minimalista.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1305" y="3707892"/>
            <a:ext cx="75895" cy="758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2"/>
          <p:cNvSpPr txBox="1"/>
          <p:nvPr/>
        </p:nvSpPr>
        <p:spPr>
          <a:xfrm>
            <a:off x="609905" y="3650285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Iluminación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09905" y="3878885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Cenital blanca pura. Foco aislado.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81305" y="4202582"/>
            <a:ext cx="75895" cy="758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 txBox="1"/>
          <p:nvPr/>
        </p:nvSpPr>
        <p:spPr>
          <a:xfrm>
            <a:off x="609905" y="4145890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Atmósfera Sonora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09905" y="4374490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Silencio absoluto.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1305" y="4698187"/>
            <a:ext cx="75895" cy="758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8"/>
          <p:cNvSpPr txBox="1"/>
          <p:nvPr/>
        </p:nvSpPr>
        <p:spPr>
          <a:xfrm>
            <a:off x="609905" y="4641494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Acción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09905" y="4870094"/>
            <a:ext cx="28867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 entra lentamente con un cuaderno. Se detiene bajo la luz.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81305" y="5379415"/>
            <a:ext cx="30385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 l="-2571" r="-2571"/>
          <a:stretch/>
        </p:blipFill>
        <p:spPr>
          <a:xfrm>
            <a:off x="381305" y="5636362"/>
            <a:ext cx="105156" cy="1143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62356" y="5617159"/>
            <a:ext cx="23381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9CA3A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Siguiente: Transición Cálida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2111" r="-2111"/>
          <a:stretch/>
        </p:blipFill>
        <p:spPr>
          <a:xfrm>
            <a:off x="7696505" y="2728570"/>
            <a:ext cx="609905" cy="9144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7788859" y="5981621"/>
            <a:ext cx="105156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979054" y="5877383"/>
            <a:ext cx="2670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7588606" y="5877383"/>
            <a:ext cx="828446" cy="323698"/>
          </a:xfrm>
          <a:prstGeom prst="roundRect">
            <a:avLst>
              <a:gd name="adj" fmla="val 28248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4"/>
          <p:cNvSpPr txBox="1"/>
          <p:nvPr/>
        </p:nvSpPr>
        <p:spPr>
          <a:xfrm>
            <a:off x="3862425" y="819749"/>
            <a:ext cx="3229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kern="0" spc="45" dirty="0">
                <a:solidFill>
                  <a:srgbClr val="D1D5DB">
                    <a:alpha val="9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Desde pequeña me dijeron que la vida era una historia.</a:t>
            </a:r>
            <a:endParaRPr lang="en-US" sz="1800" dirty="0"/>
          </a:p>
          <a:p>
            <a:pPr marL="0" indent="0">
              <a:buNone/>
            </a:pPr>
            <a:r>
              <a:rPr lang="en-US" sz="1800" kern="0" spc="45" dirty="0">
                <a:solidFill>
                  <a:srgbClr val="D1D5DB">
                    <a:alpha val="9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Que todos tenemos un papel que cumplir... 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3849623" y="2091059"/>
            <a:ext cx="3103139" cy="1354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¿Soy personaje</a:t>
            </a:r>
            <a:endParaRPr lang="en-US" sz="4500" dirty="0"/>
          </a:p>
          <a:p>
            <a:pPr marL="0" indent="0" algn="ctr">
              <a:buNone/>
            </a:pPr>
            <a:r>
              <a:rPr lang="en-US" sz="45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autora?</a:t>
            </a:r>
            <a:endParaRPr lang="en-US" sz="45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095E3B4-9B74-43D7-D7F2-BCDAD787C9AA}"/>
              </a:ext>
            </a:extLst>
          </p:cNvPr>
          <p:cNvSpPr txBox="1"/>
          <p:nvPr/>
        </p:nvSpPr>
        <p:spPr>
          <a:xfrm>
            <a:off x="8001457" y="2180804"/>
            <a:ext cx="24619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chemeClr val="bg1"/>
                </a:solidFill>
                <a:effectLst/>
                <a:latin typeface="Playfair Display" panose="00000500000000000000" pitchFamily="2" charset="0"/>
              </a:rPr>
              <a:t>Since I was little, they told me that life was a story. </a:t>
            </a:r>
            <a:br>
              <a:rPr lang="en-US" sz="1800" i="0" dirty="0">
                <a:solidFill>
                  <a:schemeClr val="bg1"/>
                </a:solidFill>
                <a:effectLst/>
                <a:latin typeface="Playfair Display" panose="00000500000000000000" pitchFamily="2" charset="0"/>
              </a:rPr>
            </a:br>
            <a:r>
              <a:rPr lang="en-US" sz="1800" i="0" dirty="0">
                <a:solidFill>
                  <a:schemeClr val="bg1"/>
                </a:solidFill>
                <a:effectLst/>
                <a:latin typeface="Playfair Display" panose="00000500000000000000" pitchFamily="2" charset="0"/>
              </a:rPr>
              <a:t>That we all have a role to fulfill…</a:t>
            </a:r>
            <a:endParaRPr lang="es-CO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41010CE9-100F-3FFA-9803-9F2AE3B12D55}"/>
              </a:ext>
            </a:extLst>
          </p:cNvPr>
          <p:cNvSpPr txBox="1"/>
          <p:nvPr/>
        </p:nvSpPr>
        <p:spPr>
          <a:xfrm>
            <a:off x="8112555" y="3618540"/>
            <a:ext cx="3603651" cy="1168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Playfair Display" panose="00000500000000000000" pitchFamily="2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4000" b="1" i="0" dirty="0">
                <a:solidFill>
                  <a:schemeClr val="bg1"/>
                </a:solidFill>
                <a:effectLst/>
                <a:latin typeface="Playfair Display" panose="00000500000000000000" pitchFamily="2" charset="0"/>
              </a:rPr>
              <a:t>Am I a character, 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Playfair Display" panose="00000500000000000000" pitchFamily="2" charset="0"/>
              </a:rPr>
              <a:t>or the author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Playfair Display" panose="00000500000000000000" pitchFamily="2" charset="0"/>
              </a:rPr>
              <a:t> </a:t>
            </a:r>
            <a:r>
              <a:rPr lang="en-US" sz="4500" b="1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?</a:t>
            </a:r>
            <a:endParaRPr lang="en-US" sz="4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4742" y="7643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sz="1800" b="1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Maybe loving is not about losing yourself…</a:t>
            </a:r>
            <a:r>
              <a:rPr lang="en-US" sz="1800" b="0" i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  <a:br>
              <a:rPr lang="en-US" sz="1800" b="0" i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-4860179" y="-297671"/>
            <a:ext cx="9525305" cy="95253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 t="-2149" b="-2149"/>
          <a:stretch/>
        </p:blipFill>
        <p:spPr>
          <a:xfrm>
            <a:off x="800100" y="3085186"/>
            <a:ext cx="9144" cy="28163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/>
          <a:srcRect t="-2149" b="-2149"/>
          <a:stretch/>
        </p:blipFill>
        <p:spPr>
          <a:xfrm>
            <a:off x="800100" y="3748126"/>
            <a:ext cx="9144" cy="28163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4219956" y="1352398"/>
            <a:ext cx="9144" cy="51242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3"/>
          <p:cNvSpPr/>
          <p:nvPr/>
        </p:nvSpPr>
        <p:spPr>
          <a:xfrm>
            <a:off x="609905" y="2704795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4205" y="2819095"/>
            <a:ext cx="152705" cy="152705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143000" y="2704795"/>
            <a:ext cx="14383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Música </a:t>
            </a:r>
            <a:endParaRPr lang="en-US" sz="1300" dirty="0"/>
          </a:p>
        </p:txBody>
      </p:sp>
      <p:sp>
        <p:nvSpPr>
          <p:cNvPr id="14" name="Text 5"/>
          <p:cNvSpPr txBox="1"/>
          <p:nvPr/>
        </p:nvSpPr>
        <p:spPr>
          <a:xfrm>
            <a:off x="1143000" y="2943454"/>
            <a:ext cx="15316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Nacimiento del amor</a:t>
            </a:r>
            <a:endParaRPr lang="en-US" sz="1000" dirty="0"/>
          </a:p>
        </p:txBody>
      </p:sp>
      <p:sp>
        <p:nvSpPr>
          <p:cNvPr id="15" name="Shape 6"/>
          <p:cNvSpPr/>
          <p:nvPr/>
        </p:nvSpPr>
        <p:spPr>
          <a:xfrm>
            <a:off x="609905" y="3366821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733349" y="3481121"/>
            <a:ext cx="133502" cy="15270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1143000" y="3366821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Danza </a:t>
            </a:r>
            <a:endParaRPr lang="en-US" sz="1300" dirty="0"/>
          </a:p>
        </p:txBody>
      </p:sp>
      <p:sp>
        <p:nvSpPr>
          <p:cNvPr id="18" name="Text 8"/>
          <p:cNvSpPr txBox="1"/>
          <p:nvPr/>
        </p:nvSpPr>
        <p:spPr>
          <a:xfrm>
            <a:off x="1143000" y="3606394"/>
            <a:ext cx="16934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Enamoramiento juvenil</a:t>
            </a:r>
            <a:endParaRPr lang="en-US" sz="1000" dirty="0"/>
          </a:p>
        </p:txBody>
      </p:sp>
      <p:sp>
        <p:nvSpPr>
          <p:cNvPr id="27" name="Text 15"/>
          <p:cNvSpPr txBox="1"/>
          <p:nvPr/>
        </p:nvSpPr>
        <p:spPr>
          <a:xfrm>
            <a:off x="4457700" y="972007"/>
            <a:ext cx="797357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FFFFFF">
                    <a:alpha val="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9600" dirty="0"/>
          </a:p>
        </p:txBody>
      </p:sp>
      <p:sp>
        <p:nvSpPr>
          <p:cNvPr id="28" name="Text 16"/>
          <p:cNvSpPr txBox="1"/>
          <p:nvPr/>
        </p:nvSpPr>
        <p:spPr>
          <a:xfrm>
            <a:off x="4815830" y="1704016"/>
            <a:ext cx="3199343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E2E8F0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Se miran como si el mundo desapareciera.</a:t>
            </a:r>
            <a:endParaRPr lang="en-US" sz="2700" dirty="0"/>
          </a:p>
          <a:p>
            <a:pPr marL="0" indent="0" algn="l">
              <a:buNone/>
            </a:pPr>
            <a:r>
              <a:rPr lang="en-US" sz="2700" i="1" dirty="0">
                <a:solidFill>
                  <a:srgbClr val="E2E8F0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Como si amar fuera suficiente. </a:t>
            </a:r>
            <a:endParaRPr lang="en-US" sz="2700" dirty="0"/>
          </a:p>
        </p:txBody>
      </p:sp>
      <p:sp>
        <p:nvSpPr>
          <p:cNvPr id="29" name="Text 17"/>
          <p:cNvSpPr txBox="1"/>
          <p:nvPr/>
        </p:nvSpPr>
        <p:spPr>
          <a:xfrm>
            <a:off x="4693158" y="4057192"/>
            <a:ext cx="664403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Tal </a:t>
            </a:r>
            <a:r>
              <a:rPr lang="en-US" i="1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vez</a:t>
            </a: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i="1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amar</a:t>
            </a: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no es </a:t>
            </a:r>
            <a:r>
              <a:rPr lang="en-US" i="1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perderse</a:t>
            </a: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...</a:t>
            </a:r>
            <a:endParaRPr lang="en-US" dirty="0"/>
          </a:p>
          <a:p>
            <a:pPr marL="0" indent="0" algn="l">
              <a:buNone/>
            </a:pP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Tal </a:t>
            </a:r>
            <a:r>
              <a:rPr lang="en-US" i="1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vez</a:t>
            </a: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es </a:t>
            </a:r>
            <a:r>
              <a:rPr lang="en-US" b="1" i="1" dirty="0" err="1">
                <a:solidFill>
                  <a:srgbClr val="FB718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elegir</a:t>
            </a:r>
            <a:r>
              <a:rPr lang="en-US" b="1" i="1" dirty="0">
                <a:solidFill>
                  <a:srgbClr val="FB718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b="1" i="1" dirty="0" err="1">
                <a:solidFill>
                  <a:srgbClr val="FB718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quedarse</a:t>
            </a:r>
            <a:endParaRPr lang="en-US" dirty="0">
              <a:solidFill>
                <a:srgbClr val="FB7185"/>
              </a:solidFill>
            </a:endParaRPr>
          </a:p>
          <a:p>
            <a:pPr marL="0" indent="0" algn="l">
              <a:buNone/>
            </a:pP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sin </a:t>
            </a:r>
            <a:r>
              <a:rPr lang="en-US" i="1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dejar</a:t>
            </a: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de ser uno </a:t>
            </a:r>
            <a:r>
              <a:rPr lang="en-US" i="1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mismo</a:t>
            </a: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 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4803207" y="5927252"/>
            <a:ext cx="1800454" cy="304495"/>
          </a:xfrm>
          <a:prstGeom prst="roundRect">
            <a:avLst>
              <a:gd name="adj" fmla="val 300300"/>
            </a:avLst>
          </a:prstGeom>
          <a:solidFill>
            <a:srgbClr val="FB7185">
              <a:alpha val="10000"/>
            </a:srgbClr>
          </a:solidFill>
          <a:ln w="12700">
            <a:solidFill>
              <a:srgbClr val="FB718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4982589" y="6020876"/>
            <a:ext cx="114300" cy="1143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5216831" y="5930084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CA5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Reflexión de Eli</a:t>
            </a:r>
            <a:endParaRPr lang="en-US" sz="900" dirty="0"/>
          </a:p>
        </p:txBody>
      </p:sp>
      <p:sp>
        <p:nvSpPr>
          <p:cNvPr id="33" name="Text 20"/>
          <p:cNvSpPr txBox="1"/>
          <p:nvPr/>
        </p:nvSpPr>
        <p:spPr>
          <a:xfrm>
            <a:off x="609905" y="381305"/>
            <a:ext cx="39154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FB71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Narrativa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671627" y="1092708"/>
            <a:ext cx="5652821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 | El Amor y la </a:t>
            </a:r>
            <a:r>
              <a:rPr lang="en-US" sz="4200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tragedia</a:t>
            </a:r>
            <a:endParaRPr lang="en-US" sz="4200" dirty="0"/>
          </a:p>
        </p:txBody>
      </p:sp>
      <p:sp>
        <p:nvSpPr>
          <p:cNvPr id="35" name="Shape 22"/>
          <p:cNvSpPr/>
          <p:nvPr/>
        </p:nvSpPr>
        <p:spPr>
          <a:xfrm>
            <a:off x="10033711" y="1191463"/>
            <a:ext cx="1552651" cy="914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23"/>
          <p:cNvSpPr txBox="1"/>
          <p:nvPr/>
        </p:nvSpPr>
        <p:spPr>
          <a:xfrm>
            <a:off x="9738360" y="952805"/>
            <a:ext cx="184800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Romeo y Julieta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25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8"/>
          <a:srcRect l="-4000" r="-4000"/>
          <a:stretch/>
        </p:blipFill>
        <p:spPr>
          <a:xfrm>
            <a:off x="609905" y="6577279"/>
            <a:ext cx="123444" cy="1143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47649" y="6548018"/>
            <a:ext cx="1571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Transición de Acto</a:t>
            </a:r>
            <a:endParaRPr lang="en-US" sz="900" dirty="0"/>
          </a:p>
        </p:txBody>
      </p:sp>
      <p:sp>
        <p:nvSpPr>
          <p:cNvPr id="41" name="Text 27"/>
          <p:cNvSpPr txBox="1"/>
          <p:nvPr/>
        </p:nvSpPr>
        <p:spPr>
          <a:xfrm>
            <a:off x="4614062" y="6519672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Cálido</a:t>
            </a:r>
            <a:endParaRPr lang="en-US" sz="12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9"/>
          <a:srcRect t="-384" b="-384"/>
          <a:stretch/>
        </p:blipFill>
        <p:spPr>
          <a:xfrm>
            <a:off x="5462626" y="6614770"/>
            <a:ext cx="952805" cy="3840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6567221" y="6519672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Frío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9864547" y="6548018"/>
            <a:ext cx="1495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Sonido de </a:t>
            </a:r>
            <a:r>
              <a:rPr lang="en-US" sz="900" b="1" kern="0" spc="9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trueno</a:t>
            </a:r>
            <a:r>
              <a:rPr lang="en-US" sz="900" b="1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kern="0" spc="9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marcando</a:t>
            </a:r>
            <a:r>
              <a:rPr lang="en-US" sz="900" b="1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</a:t>
            </a:r>
            <a:r>
              <a:rPr lang="en-US" sz="900" b="1" kern="0" spc="9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transición</a:t>
            </a:r>
            <a:endParaRPr lang="en-US" sz="9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11468405" y="6577279"/>
            <a:ext cx="114300" cy="114300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9285732" y="6548018"/>
            <a:ext cx="467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Efecto: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E8FA6E2B-3A76-CECE-1D6E-A5CF3324ABB5}"/>
              </a:ext>
            </a:extLst>
          </p:cNvPr>
          <p:cNvSpPr txBox="1"/>
          <p:nvPr/>
        </p:nvSpPr>
        <p:spPr>
          <a:xfrm>
            <a:off x="800100" y="4234608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kern="0" spc="105" dirty="0">
                <a:solidFill>
                  <a:srgbClr val="6B7280"/>
                </a:solidFill>
                <a:latin typeface="Courier New" pitchFamily="34" charset="0"/>
                <a:cs typeface="Courier New" pitchFamily="34" charset="-120"/>
              </a:rPr>
              <a:t>Escenografia</a:t>
            </a:r>
            <a:endParaRPr lang="en-US" sz="10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5E79C085-3EB0-79DD-6981-C67E4C8880C1}"/>
              </a:ext>
            </a:extLst>
          </p:cNvPr>
          <p:cNvSpPr txBox="1"/>
          <p:nvPr/>
        </p:nvSpPr>
        <p:spPr>
          <a:xfrm>
            <a:off x="809244" y="4591203"/>
            <a:ext cx="28867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Proyeccion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de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escenas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pintadas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y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dibujdas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del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libro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,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por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los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estudiantes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de 6°</a:t>
            </a:r>
            <a:endParaRPr lang="en-US" sz="10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E2495AB0-4E27-C2FA-D020-2718BEE31103}"/>
              </a:ext>
            </a:extLst>
          </p:cNvPr>
          <p:cNvSpPr txBox="1"/>
          <p:nvPr/>
        </p:nvSpPr>
        <p:spPr>
          <a:xfrm>
            <a:off x="8387019" y="2627506"/>
            <a:ext cx="3199343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i="1" dirty="0">
                <a:solidFill>
                  <a:schemeClr val="bg1">
                    <a:lumMod val="85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300" i="1" dirty="0">
                <a:solidFill>
                  <a:srgbClr val="8D94A1"/>
                </a:solidFill>
                <a:effectLst/>
                <a:latin typeface="Playfair Display" panose="00000500000000000000" pitchFamily="2" charset="0"/>
              </a:rPr>
              <a:t>They look at each other as if the world had disappeared. </a:t>
            </a:r>
            <a:br>
              <a:rPr lang="en-US" sz="2300" i="1" dirty="0">
                <a:solidFill>
                  <a:srgbClr val="8D94A1"/>
                </a:solidFill>
                <a:effectLst/>
                <a:latin typeface="Playfair Display" panose="00000500000000000000" pitchFamily="2" charset="0"/>
              </a:rPr>
            </a:br>
            <a:r>
              <a:rPr lang="en-US" sz="2300" i="1" dirty="0">
                <a:solidFill>
                  <a:srgbClr val="8D94A1"/>
                </a:solidFill>
                <a:effectLst/>
                <a:latin typeface="Playfair Display" panose="00000500000000000000" pitchFamily="2" charset="0"/>
              </a:rPr>
              <a:t>As if loving were enough.</a:t>
            </a:r>
            <a:endParaRPr lang="en-US" sz="2300" i="1" dirty="0">
              <a:solidFill>
                <a:srgbClr val="8D94A1"/>
              </a:solidFill>
              <a:latin typeface="Playfair Display" panose="00000500000000000000" pitchFamily="2" charset="0"/>
            </a:endParaRPr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9EFC23EB-009D-9CD8-145B-E1D44479C4C7}"/>
              </a:ext>
            </a:extLst>
          </p:cNvPr>
          <p:cNvSpPr txBox="1"/>
          <p:nvPr/>
        </p:nvSpPr>
        <p:spPr>
          <a:xfrm>
            <a:off x="8566878" y="4637724"/>
            <a:ext cx="664403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i="1" dirty="0">
                <a:solidFill>
                  <a:schemeClr val="bg1">
                    <a:lumMod val="85000"/>
                  </a:schemeClr>
                </a:solidFill>
                <a:effectLst/>
                <a:latin typeface="Playfair Display" panose="00000500000000000000" pitchFamily="2" charset="0"/>
              </a:rPr>
              <a:t>Maybe loving is not</a:t>
            </a:r>
          </a:p>
          <a:p>
            <a:pPr marL="0" indent="0" algn="l">
              <a:buNone/>
            </a:pPr>
            <a:r>
              <a:rPr lang="en-US" sz="1800" b="1" i="1" dirty="0">
                <a:solidFill>
                  <a:schemeClr val="bg1">
                    <a:lumMod val="85000"/>
                  </a:schemeClr>
                </a:solidFill>
                <a:effectLst/>
                <a:latin typeface="Playfair Display" panose="00000500000000000000" pitchFamily="2" charset="0"/>
              </a:rPr>
              <a:t> about losing yourself…</a:t>
            </a:r>
          </a:p>
          <a:p>
            <a:pPr marL="0" indent="0" algn="l">
              <a:buNone/>
            </a:pPr>
            <a:r>
              <a:rPr lang="en-US" sz="1800" b="1" i="1" dirty="0">
                <a:solidFill>
                  <a:schemeClr val="bg1">
                    <a:lumMod val="85000"/>
                  </a:schemeClr>
                </a:solidFill>
                <a:effectLst/>
                <a:latin typeface="Playfair Display" panose="00000500000000000000" pitchFamily="2" charset="0"/>
              </a:rPr>
              <a:t>It is </a:t>
            </a:r>
            <a:r>
              <a:rPr lang="en-US" sz="1800" b="1" i="1" dirty="0">
                <a:solidFill>
                  <a:srgbClr val="FB7185"/>
                </a:solidFill>
                <a:effectLst/>
                <a:latin typeface="Playfair Display" panose="00000500000000000000" pitchFamily="2" charset="0"/>
              </a:rPr>
              <a:t>choosing to stay </a:t>
            </a:r>
          </a:p>
          <a:p>
            <a:pPr marL="0" indent="0" algn="l">
              <a:buNone/>
            </a:pPr>
            <a:r>
              <a:rPr lang="en-US" sz="1800" b="1" i="1" dirty="0">
                <a:solidFill>
                  <a:schemeClr val="bg1">
                    <a:lumMod val="85000"/>
                  </a:schemeClr>
                </a:solidFill>
                <a:effectLst/>
                <a:latin typeface="Playfair Display" panose="00000500000000000000" pitchFamily="2" charset="0"/>
              </a:rPr>
              <a:t>without ceasing to be yourself.</a:t>
            </a:r>
            <a:r>
              <a:rPr lang="en-US" sz="1800" b="0" i="1" dirty="0">
                <a:solidFill>
                  <a:schemeClr val="bg1">
                    <a:lumMod val="85000"/>
                  </a:schemeClr>
                </a:solidFill>
                <a:effectLst/>
                <a:latin typeface="Playfair Display" panose="00000500000000000000" pitchFamily="2" charset="0"/>
              </a:rPr>
              <a:t>  </a:t>
            </a:r>
            <a:br>
              <a:rPr lang="en-US" sz="1800" b="0" i="1" dirty="0">
                <a:solidFill>
                  <a:schemeClr val="bg1">
                    <a:lumMod val="85000"/>
                  </a:schemeClr>
                </a:solidFill>
                <a:effectLst/>
                <a:latin typeface="Playfair Display" panose="00000500000000000000" pitchFamily="2" charset="0"/>
              </a:rPr>
            </a:br>
            <a:endParaRPr lang="en-US" i="1" dirty="0">
              <a:solidFill>
                <a:schemeClr val="bg1">
                  <a:lumMod val="85000"/>
                </a:schemeClr>
              </a:solidFill>
              <a:latin typeface="Playfair Display" panose="000005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4572000" y="-3810305"/>
            <a:ext cx="9525305" cy="9525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-1904695" y="1143000"/>
            <a:ext cx="9525305" cy="9525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-101042" y="996718"/>
            <a:ext cx="12191695" cy="6858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2149" b="-2149"/>
          <a:stretch/>
        </p:blipFill>
        <p:spPr>
          <a:xfrm>
            <a:off x="800100" y="3085186"/>
            <a:ext cx="9144" cy="28163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 t="-2149" b="-2149"/>
          <a:stretch/>
        </p:blipFill>
        <p:spPr>
          <a:xfrm>
            <a:off x="800100" y="3748126"/>
            <a:ext cx="9144" cy="28163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4219956" y="1352398"/>
            <a:ext cx="9144" cy="51242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3"/>
          <p:cNvSpPr/>
          <p:nvPr/>
        </p:nvSpPr>
        <p:spPr>
          <a:xfrm>
            <a:off x="609905" y="2704795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4205" y="2819095"/>
            <a:ext cx="152705" cy="152705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143000" y="2704795"/>
            <a:ext cx="12006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Música </a:t>
            </a:r>
            <a:endParaRPr lang="en-US" sz="1300" dirty="0"/>
          </a:p>
        </p:txBody>
      </p:sp>
      <p:sp>
        <p:nvSpPr>
          <p:cNvPr id="14" name="Text 5"/>
          <p:cNvSpPr txBox="1"/>
          <p:nvPr/>
        </p:nvSpPr>
        <p:spPr>
          <a:xfrm>
            <a:off x="1143000" y="2943454"/>
            <a:ext cx="1337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Destino</a:t>
            </a:r>
            <a:endParaRPr lang="en-US" sz="1000" dirty="0"/>
          </a:p>
        </p:txBody>
      </p:sp>
      <p:sp>
        <p:nvSpPr>
          <p:cNvPr id="15" name="Shape 6"/>
          <p:cNvSpPr/>
          <p:nvPr/>
        </p:nvSpPr>
        <p:spPr>
          <a:xfrm>
            <a:off x="609905" y="3366821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705002" y="3481121"/>
            <a:ext cx="190195" cy="15270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1143000" y="3366821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Danza </a:t>
            </a:r>
            <a:endParaRPr lang="en-US" sz="1300" dirty="0"/>
          </a:p>
        </p:txBody>
      </p:sp>
      <p:sp>
        <p:nvSpPr>
          <p:cNvPr id="18" name="Text 8"/>
          <p:cNvSpPr txBox="1"/>
          <p:nvPr/>
        </p:nvSpPr>
        <p:spPr>
          <a:xfrm>
            <a:off x="1143000" y="3606394"/>
            <a:ext cx="23015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Poder y </a:t>
            </a:r>
            <a:r>
              <a:rPr lang="en-US" sz="1000" dirty="0" err="1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jerarquía</a:t>
            </a: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Text 15"/>
          <p:cNvSpPr txBox="1"/>
          <p:nvPr/>
        </p:nvSpPr>
        <p:spPr>
          <a:xfrm>
            <a:off x="4457700" y="972007"/>
            <a:ext cx="797357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FFFFFF">
                    <a:alpha val="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96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9"/>
          <a:srcRect l="-3440" r="-3440"/>
          <a:stretch/>
        </p:blipFill>
        <p:spPr>
          <a:xfrm>
            <a:off x="4742992" y="1423262"/>
            <a:ext cx="152705" cy="1143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4969306" y="1394459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Voces (Dioses)</a:t>
            </a:r>
            <a:endParaRPr lang="en-US" sz="900" dirty="0"/>
          </a:p>
        </p:txBody>
      </p:sp>
      <p:sp>
        <p:nvSpPr>
          <p:cNvPr id="30" name="Shape 17"/>
          <p:cNvSpPr/>
          <p:nvPr/>
        </p:nvSpPr>
        <p:spPr>
          <a:xfrm>
            <a:off x="4837176" y="1690896"/>
            <a:ext cx="19202" cy="4855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18"/>
          <p:cNvSpPr txBox="1"/>
          <p:nvPr/>
        </p:nvSpPr>
        <p:spPr>
          <a:xfrm>
            <a:off x="4903047" y="1680666"/>
            <a:ext cx="2199099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E2E8F0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</a:t>
            </a:r>
            <a:r>
              <a:rPr lang="en-US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Todo está escrito. Nadie </a:t>
            </a:r>
            <a:r>
              <a:rPr lang="en-US" i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escapa</a:t>
            </a:r>
            <a:r>
              <a:rPr lang="en-US" i="1" dirty="0">
                <a:solidFill>
                  <a:srgbClr val="E2E8F0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.“</a:t>
            </a:r>
            <a:endParaRPr lang="en-US" i="1" dirty="0">
              <a:solidFill>
                <a:srgbClr val="E2E8F0"/>
              </a:solidFill>
              <a:latin typeface="Playfair Display" panose="00000500000000000000" pitchFamily="2" charset="0"/>
            </a:endParaRPr>
          </a:p>
        </p:txBody>
      </p:sp>
      <p:sp>
        <p:nvSpPr>
          <p:cNvPr id="32" name="Text 19"/>
          <p:cNvSpPr txBox="1"/>
          <p:nvPr/>
        </p:nvSpPr>
        <p:spPr>
          <a:xfrm>
            <a:off x="4714670" y="2539111"/>
            <a:ext cx="3293646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No soy profecía. No soy etiqueta.</a:t>
            </a:r>
            <a:endParaRPr lang="en-US" dirty="0"/>
          </a:p>
          <a:p>
            <a:pPr marL="0" indent="0" algn="l">
              <a:buNone/>
            </a:pP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El destino puede influir...</a:t>
            </a:r>
            <a:endParaRPr lang="en-US" dirty="0"/>
          </a:p>
          <a:p>
            <a:pPr marL="0" indent="0" algn="l">
              <a:buNone/>
            </a:pP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pero </a:t>
            </a:r>
            <a:r>
              <a:rPr lang="en-US" b="1" i="1" dirty="0">
                <a:solidFill>
                  <a:srgbClr val="22D3E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 decide por mí</a:t>
            </a: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 </a:t>
            </a:r>
            <a:endParaRPr lang="en-US" dirty="0"/>
          </a:p>
        </p:txBody>
      </p:sp>
      <p:sp>
        <p:nvSpPr>
          <p:cNvPr id="33" name="Shape 20"/>
          <p:cNvSpPr/>
          <p:nvPr/>
        </p:nvSpPr>
        <p:spPr>
          <a:xfrm>
            <a:off x="4876495" y="5180076"/>
            <a:ext cx="1800454" cy="304495"/>
          </a:xfrm>
          <a:prstGeom prst="roundRect">
            <a:avLst>
              <a:gd name="adj" fmla="val 300300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5038344" y="5275174"/>
            <a:ext cx="114300" cy="114300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5229454" y="5180076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Reflexión de Eli</a:t>
            </a:r>
            <a:endParaRPr lang="en-US" sz="900" dirty="0"/>
          </a:p>
        </p:txBody>
      </p:sp>
      <p:sp>
        <p:nvSpPr>
          <p:cNvPr id="36" name="Text 22"/>
          <p:cNvSpPr txBox="1"/>
          <p:nvPr/>
        </p:nvSpPr>
        <p:spPr>
          <a:xfrm>
            <a:off x="609905" y="381305"/>
            <a:ext cx="46579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Narrativa</a:t>
            </a:r>
            <a:endParaRPr lang="en-US" sz="900" dirty="0"/>
          </a:p>
        </p:txBody>
      </p:sp>
      <p:sp>
        <p:nvSpPr>
          <p:cNvPr id="37" name="Text 23"/>
          <p:cNvSpPr txBox="1"/>
          <p:nvPr/>
        </p:nvSpPr>
        <p:spPr>
          <a:xfrm>
            <a:off x="609905" y="629107"/>
            <a:ext cx="682965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II | El Destino</a:t>
            </a:r>
            <a:endParaRPr lang="en-US" sz="4200" dirty="0"/>
          </a:p>
        </p:txBody>
      </p:sp>
      <p:sp>
        <p:nvSpPr>
          <p:cNvPr id="38" name="Shape 24"/>
          <p:cNvSpPr/>
          <p:nvPr/>
        </p:nvSpPr>
        <p:spPr>
          <a:xfrm>
            <a:off x="9995306" y="1191463"/>
            <a:ext cx="1591056" cy="91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25"/>
          <p:cNvSpPr txBox="1"/>
          <p:nvPr/>
        </p:nvSpPr>
        <p:spPr>
          <a:xfrm>
            <a:off x="9693554" y="952805"/>
            <a:ext cx="1893722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Mitología Griega</a:t>
            </a:r>
            <a:endParaRPr lang="en-US" sz="1200" dirty="0"/>
          </a:p>
        </p:txBody>
      </p:sp>
      <p:sp>
        <p:nvSpPr>
          <p:cNvPr id="40" name="Shape 2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Shape 27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1"/>
          <a:srcRect l="-4000" r="-4000"/>
          <a:stretch/>
        </p:blipFill>
        <p:spPr>
          <a:xfrm>
            <a:off x="609905" y="6577279"/>
            <a:ext cx="123444" cy="11430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847649" y="6548018"/>
            <a:ext cx="1571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Transición de Acto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4295851" y="6519672"/>
            <a:ext cx="523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Frío</a:t>
            </a:r>
            <a:endParaRPr lang="en-US" sz="12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2"/>
          <a:srcRect t="-384" b="-384"/>
          <a:stretch/>
        </p:blipFill>
        <p:spPr>
          <a:xfrm>
            <a:off x="4890211" y="6614770"/>
            <a:ext cx="952805" cy="38405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5994806" y="6519672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Neutro</a:t>
            </a:r>
            <a:endParaRPr lang="en-US" sz="1200" dirty="0"/>
          </a:p>
        </p:txBody>
      </p:sp>
      <p:sp>
        <p:nvSpPr>
          <p:cNvPr id="47" name="Text 31"/>
          <p:cNvSpPr txBox="1"/>
          <p:nvPr/>
        </p:nvSpPr>
        <p:spPr>
          <a:xfrm>
            <a:off x="9338767" y="6548018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Desaparecen los dioses</a:t>
            </a:r>
            <a:endParaRPr lang="en-US" sz="9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3"/>
          <a:srcRect l="-3440" r="-3440"/>
          <a:stretch/>
        </p:blipFill>
        <p:spPr>
          <a:xfrm>
            <a:off x="11430000" y="6577279"/>
            <a:ext cx="152705" cy="114300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8716061" y="6548018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Escena:</a:t>
            </a:r>
            <a:endParaRPr lang="en-US" sz="90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FA7B5268-A72C-A99A-80DD-177E4E814DFC}"/>
              </a:ext>
            </a:extLst>
          </p:cNvPr>
          <p:cNvSpPr txBox="1"/>
          <p:nvPr/>
        </p:nvSpPr>
        <p:spPr>
          <a:xfrm>
            <a:off x="800100" y="4234608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kern="0" spc="105" dirty="0">
                <a:solidFill>
                  <a:srgbClr val="6B7280"/>
                </a:solidFill>
                <a:latin typeface="Courier New" pitchFamily="34" charset="0"/>
                <a:cs typeface="Courier New" pitchFamily="34" charset="-120"/>
              </a:rPr>
              <a:t>Escenografia</a:t>
            </a:r>
            <a:endParaRPr lang="en-US" sz="10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5EA039DA-0239-3244-6BCD-3B829E47CB8D}"/>
              </a:ext>
            </a:extLst>
          </p:cNvPr>
          <p:cNvSpPr txBox="1"/>
          <p:nvPr/>
        </p:nvSpPr>
        <p:spPr>
          <a:xfrm>
            <a:off x="809244" y="4591203"/>
            <a:ext cx="28867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Proyeccion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de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fondo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de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templos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griegos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Uno o dos dioses pintados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colgando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de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tramoya</a:t>
            </a:r>
            <a:endParaRPr lang="en-US" sz="1000" dirty="0">
              <a:solidFill>
                <a:srgbClr val="E5E7EB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 algn="l">
              <a:buNone/>
            </a:pP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Animacion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de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letras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atras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con lo que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dicen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los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dioses.</a:t>
            </a:r>
            <a:endParaRPr lang="en-US" sz="10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DE8DE3D-0328-55AE-C8BF-DA1A7A00E600}"/>
              </a:ext>
            </a:extLst>
          </p:cNvPr>
          <p:cNvSpPr txBox="1"/>
          <p:nvPr/>
        </p:nvSpPr>
        <p:spPr>
          <a:xfrm>
            <a:off x="8546697" y="2821424"/>
            <a:ext cx="2653687" cy="644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E2E8F0"/>
                </a:solidFill>
                <a:effectLst/>
                <a:latin typeface="Playfair Display" panose="00000500000000000000" pitchFamily="2" charset="0"/>
              </a:rPr>
              <a:t>“Everything is written. No one escapes</a:t>
            </a:r>
            <a:r>
              <a:rPr lang="en-US" i="1" dirty="0">
                <a:solidFill>
                  <a:srgbClr val="E2E8F0"/>
                </a:solidFill>
                <a:latin typeface="Playfair Display" panose="00000500000000000000" pitchFamily="2" charset="0"/>
              </a:rPr>
              <a:t>”.</a:t>
            </a:r>
            <a:endParaRPr lang="es-CO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81036140-12A4-1088-0559-027C5924DD8F}"/>
              </a:ext>
            </a:extLst>
          </p:cNvPr>
          <p:cNvSpPr txBox="1"/>
          <p:nvPr/>
        </p:nvSpPr>
        <p:spPr>
          <a:xfrm>
            <a:off x="8546697" y="3806648"/>
            <a:ext cx="3293646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1800" i="1" dirty="0">
                <a:solidFill>
                  <a:schemeClr val="bg1">
                    <a:lumMod val="95000"/>
                  </a:schemeClr>
                </a:solidFill>
                <a:effectLst/>
                <a:latin typeface="Playfair Display" panose="00000500000000000000" pitchFamily="2" charset="0"/>
              </a:rPr>
              <a:t>I am not prophecy. </a:t>
            </a:r>
            <a:br>
              <a:rPr lang="en-US" sz="1800" i="1" dirty="0">
                <a:solidFill>
                  <a:schemeClr val="bg1">
                    <a:lumMod val="95000"/>
                  </a:schemeClr>
                </a:solidFill>
                <a:effectLst/>
                <a:latin typeface="Playfair Display" panose="00000500000000000000" pitchFamily="2" charset="0"/>
              </a:rPr>
            </a:br>
            <a:r>
              <a:rPr lang="en-US" sz="1800" i="1" dirty="0">
                <a:solidFill>
                  <a:schemeClr val="bg1">
                    <a:lumMod val="95000"/>
                  </a:schemeClr>
                </a:solidFill>
                <a:effectLst/>
                <a:latin typeface="Playfair Display" panose="00000500000000000000" pitchFamily="2" charset="0"/>
              </a:rPr>
              <a:t>I am not a label. </a:t>
            </a:r>
            <a:br>
              <a:rPr lang="en-US" sz="1800" i="1" dirty="0">
                <a:solidFill>
                  <a:schemeClr val="bg1">
                    <a:lumMod val="95000"/>
                  </a:schemeClr>
                </a:solidFill>
                <a:effectLst/>
                <a:latin typeface="Playfair Display" panose="00000500000000000000" pitchFamily="2" charset="0"/>
              </a:rPr>
            </a:br>
            <a:r>
              <a:rPr lang="en-US" sz="1800" i="1" dirty="0">
                <a:solidFill>
                  <a:schemeClr val="bg1">
                    <a:lumMod val="95000"/>
                  </a:schemeClr>
                </a:solidFill>
                <a:effectLst/>
                <a:latin typeface="Playfair Display" panose="00000500000000000000" pitchFamily="2" charset="0"/>
              </a:rPr>
              <a:t>Destiny may influence… </a:t>
            </a:r>
            <a:br>
              <a:rPr lang="en-US" sz="1800" i="1" dirty="0">
                <a:solidFill>
                  <a:schemeClr val="bg1">
                    <a:lumMod val="95000"/>
                  </a:schemeClr>
                </a:solidFill>
                <a:effectLst/>
                <a:latin typeface="Playfair Display" panose="00000500000000000000" pitchFamily="2" charset="0"/>
              </a:rPr>
            </a:br>
            <a:r>
              <a:rPr lang="en-US" sz="1800" i="1" dirty="0">
                <a:solidFill>
                  <a:schemeClr val="bg1">
                    <a:lumMod val="95000"/>
                  </a:schemeClr>
                </a:solidFill>
                <a:effectLst/>
                <a:latin typeface="Playfair Display" panose="00000500000000000000" pitchFamily="2" charset="0"/>
              </a:rPr>
              <a:t>but </a:t>
            </a:r>
            <a:r>
              <a:rPr lang="en-US" sz="1800" b="1" i="1" dirty="0">
                <a:solidFill>
                  <a:srgbClr val="22D3EE"/>
                </a:solidFill>
                <a:effectLst/>
                <a:latin typeface="Playfair Display" panose="00000500000000000000" pitchFamily="2" charset="0"/>
              </a:rPr>
              <a:t>it does not decide for me</a:t>
            </a:r>
            <a:r>
              <a:rPr lang="en-US" sz="1800" b="1" i="0" dirty="0">
                <a:solidFill>
                  <a:srgbClr val="22D3EE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en-US" sz="1800" b="0" i="0" dirty="0">
                <a:solidFill>
                  <a:srgbClr val="22D3EE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>
              <a:solidFill>
                <a:srgbClr val="22D3EE"/>
              </a:solidFill>
            </a:endParaRPr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D437612D-A648-A424-19D3-C4E4AD9C335E}"/>
              </a:ext>
            </a:extLst>
          </p:cNvPr>
          <p:cNvSpPr/>
          <p:nvPr/>
        </p:nvSpPr>
        <p:spPr>
          <a:xfrm>
            <a:off x="8484122" y="2915107"/>
            <a:ext cx="19202" cy="48554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4572000" y="-3810305"/>
            <a:ext cx="9525305" cy="9525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8000"/>
          </a:blip>
          <a:srcRect/>
          <a:stretch/>
        </p:blipFill>
        <p:spPr>
          <a:xfrm>
            <a:off x="-952805" y="2095805"/>
            <a:ext cx="9525305" cy="9525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0" y="-827899"/>
            <a:ext cx="12191695" cy="6858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/>
          <a:stretch/>
        </p:blipFill>
        <p:spPr>
          <a:xfrm>
            <a:off x="8858707" y="3524098"/>
            <a:ext cx="3810305" cy="38103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2149" b="-2149"/>
          <a:stretch/>
        </p:blipFill>
        <p:spPr>
          <a:xfrm>
            <a:off x="800100" y="3085186"/>
            <a:ext cx="9144" cy="28163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rcRect t="-2149" b="-2149"/>
          <a:stretch/>
        </p:blipFill>
        <p:spPr>
          <a:xfrm>
            <a:off x="800100" y="3748126"/>
            <a:ext cx="9144" cy="28163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rcRect t="-2149" b="-2149"/>
          <a:stretch/>
        </p:blipFill>
        <p:spPr>
          <a:xfrm>
            <a:off x="800100" y="4410151"/>
            <a:ext cx="9144" cy="281635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4219956" y="1352398"/>
            <a:ext cx="9144" cy="51242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3"/>
          <p:cNvSpPr/>
          <p:nvPr/>
        </p:nvSpPr>
        <p:spPr>
          <a:xfrm>
            <a:off x="609905" y="2704795"/>
            <a:ext cx="381305" cy="381305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4205" y="2819095"/>
            <a:ext cx="152705" cy="152705"/>
          </a:xfrm>
          <a:prstGeom prst="rect">
            <a:avLst/>
          </a:prstGeom>
        </p:spPr>
      </p:pic>
      <p:sp>
        <p:nvSpPr>
          <p:cNvPr id="14" name="Text 4"/>
          <p:cNvSpPr txBox="1"/>
          <p:nvPr/>
        </p:nvSpPr>
        <p:spPr>
          <a:xfrm>
            <a:off x="1165302" y="2704795"/>
            <a:ext cx="13149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E7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Música </a:t>
            </a:r>
            <a:endParaRPr lang="en-US" sz="1300" dirty="0"/>
          </a:p>
        </p:txBody>
      </p:sp>
      <p:sp>
        <p:nvSpPr>
          <p:cNvPr id="15" name="Text 5"/>
          <p:cNvSpPr txBox="1"/>
          <p:nvPr/>
        </p:nvSpPr>
        <p:spPr>
          <a:xfrm>
            <a:off x="1143000" y="2943454"/>
            <a:ext cx="147401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Viajes y encuentros</a:t>
            </a:r>
            <a:endParaRPr lang="en-US" sz="1000" dirty="0"/>
          </a:p>
        </p:txBody>
      </p:sp>
      <p:sp>
        <p:nvSpPr>
          <p:cNvPr id="16" name="Shape 6"/>
          <p:cNvSpPr/>
          <p:nvPr/>
        </p:nvSpPr>
        <p:spPr>
          <a:xfrm>
            <a:off x="609905" y="3366821"/>
            <a:ext cx="381305" cy="381305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752551" y="3481121"/>
            <a:ext cx="95098" cy="15270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143000" y="3366821"/>
            <a:ext cx="1239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E7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Danza </a:t>
            </a:r>
            <a:endParaRPr lang="en-US" sz="13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3606394"/>
            <a:ext cx="138348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Historias cruzadas</a:t>
            </a:r>
            <a:endParaRPr lang="en-US" sz="1000" dirty="0"/>
          </a:p>
        </p:txBody>
      </p:sp>
      <p:sp>
        <p:nvSpPr>
          <p:cNvPr id="28" name="Text 15"/>
          <p:cNvSpPr txBox="1"/>
          <p:nvPr/>
        </p:nvSpPr>
        <p:spPr>
          <a:xfrm>
            <a:off x="4457700" y="972007"/>
            <a:ext cx="797357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FFFFFF">
                    <a:alpha val="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9600" dirty="0"/>
          </a:p>
        </p:txBody>
      </p:sp>
      <p:sp>
        <p:nvSpPr>
          <p:cNvPr id="29" name="Text 16"/>
          <p:cNvSpPr txBox="1"/>
          <p:nvPr/>
        </p:nvSpPr>
        <p:spPr>
          <a:xfrm rot="16200000">
            <a:off x="4676455" y="1810512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Voces</a:t>
            </a:r>
            <a:endParaRPr lang="en-US" sz="900" dirty="0"/>
          </a:p>
        </p:txBody>
      </p:sp>
      <p:sp>
        <p:nvSpPr>
          <p:cNvPr id="30" name="Text 17"/>
          <p:cNvSpPr txBox="1"/>
          <p:nvPr/>
        </p:nvSpPr>
        <p:spPr>
          <a:xfrm>
            <a:off x="5181905" y="2200778"/>
            <a:ext cx="3410712" cy="350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BD5E1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«Te </a:t>
            </a:r>
            <a:r>
              <a:rPr lang="en-US" sz="2000" i="1" dirty="0" err="1">
                <a:solidFill>
                  <a:srgbClr val="CBD5E1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soñé</a:t>
            </a:r>
            <a:r>
              <a:rPr lang="en-US" sz="2000" i="1" dirty="0">
                <a:solidFill>
                  <a:srgbClr val="CBD5E1">
                    <a:alpha val="6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...»</a:t>
            </a:r>
          </a:p>
          <a:p>
            <a:r>
              <a:rPr lang="en-US" sz="20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«Me </a:t>
            </a:r>
            <a:r>
              <a:rPr lang="en-US" sz="2000" i="1" dirty="0" err="1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fui</a:t>
            </a:r>
            <a:r>
              <a:rPr lang="en-US" sz="20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sin </a:t>
            </a:r>
            <a:r>
              <a:rPr lang="en-US" sz="2000" i="1" dirty="0" err="1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despedirme</a:t>
            </a:r>
            <a:r>
              <a:rPr lang="en-US" sz="20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...»</a:t>
            </a:r>
          </a:p>
          <a:p>
            <a:r>
              <a:rPr lang="en-US" sz="2000" i="1" dirty="0">
                <a:solidFill>
                  <a:srgbClr val="CBD5E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«No era </a:t>
            </a:r>
            <a:r>
              <a:rPr lang="en-US" sz="2000" i="1" dirty="0" err="1">
                <a:solidFill>
                  <a:srgbClr val="CBD5E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quien</a:t>
            </a:r>
            <a:r>
              <a:rPr lang="en-US" sz="2000" i="1" dirty="0">
                <a:solidFill>
                  <a:srgbClr val="CBD5E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000" i="1" dirty="0" err="1">
                <a:solidFill>
                  <a:srgbClr val="CBD5E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creías</a:t>
            </a:r>
            <a:r>
              <a:rPr lang="en-US" sz="2000" i="1" dirty="0">
                <a:solidFill>
                  <a:srgbClr val="CBD5E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...»</a:t>
            </a:r>
            <a:endParaRPr lang="en-US" sz="2000" dirty="0"/>
          </a:p>
          <a:p>
            <a:endParaRPr lang="en-US" sz="2100" dirty="0"/>
          </a:p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31" name="Text 18"/>
          <p:cNvSpPr txBox="1"/>
          <p:nvPr/>
        </p:nvSpPr>
        <p:spPr>
          <a:xfrm>
            <a:off x="5046686" y="1743203"/>
            <a:ext cx="2877503" cy="340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32" name="Text 19"/>
          <p:cNvSpPr txBox="1"/>
          <p:nvPr/>
        </p:nvSpPr>
        <p:spPr>
          <a:xfrm>
            <a:off x="5257800" y="3274466"/>
            <a:ext cx="66294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33" name="Text 20"/>
          <p:cNvSpPr txBox="1"/>
          <p:nvPr/>
        </p:nvSpPr>
        <p:spPr>
          <a:xfrm>
            <a:off x="4809744" y="2755545"/>
            <a:ext cx="395295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La vida no siempre grita.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A veces </a:t>
            </a:r>
            <a:r>
              <a:rPr lang="en-US" sz="2000" b="1" dirty="0">
                <a:solidFill>
                  <a:srgbClr val="818CF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susurra</a:t>
            </a: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... </a:t>
            </a:r>
            <a:endParaRPr lang="en-US" sz="2000" dirty="0"/>
          </a:p>
        </p:txBody>
      </p:sp>
      <p:sp>
        <p:nvSpPr>
          <p:cNvPr id="34" name="Shape 21"/>
          <p:cNvSpPr/>
          <p:nvPr/>
        </p:nvSpPr>
        <p:spPr>
          <a:xfrm>
            <a:off x="4876495" y="5148986"/>
            <a:ext cx="1800454" cy="304495"/>
          </a:xfrm>
          <a:prstGeom prst="roundRect">
            <a:avLst>
              <a:gd name="adj" fmla="val 300300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5038344" y="5244084"/>
            <a:ext cx="114300" cy="11430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5229454" y="5148986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A5B4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Reflexión de Eli</a:t>
            </a:r>
            <a:endParaRPr lang="en-US" sz="900" dirty="0"/>
          </a:p>
        </p:txBody>
      </p:sp>
      <p:sp>
        <p:nvSpPr>
          <p:cNvPr id="37" name="Text 23"/>
          <p:cNvSpPr txBox="1"/>
          <p:nvPr/>
        </p:nvSpPr>
        <p:spPr>
          <a:xfrm>
            <a:off x="609905" y="381305"/>
            <a:ext cx="5496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818C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Narrativa</a:t>
            </a:r>
            <a:endParaRPr lang="en-US" sz="900" dirty="0"/>
          </a:p>
        </p:txBody>
      </p:sp>
      <p:sp>
        <p:nvSpPr>
          <p:cNvPr id="38" name="Text 24"/>
          <p:cNvSpPr txBox="1"/>
          <p:nvPr/>
        </p:nvSpPr>
        <p:spPr>
          <a:xfrm>
            <a:off x="609905" y="629107"/>
            <a:ext cx="76681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III | Lo Cotidiano</a:t>
            </a:r>
            <a:endParaRPr lang="en-US" sz="4200" dirty="0"/>
          </a:p>
        </p:txBody>
      </p:sp>
      <p:sp>
        <p:nvSpPr>
          <p:cNvPr id="39" name="Shape 25"/>
          <p:cNvSpPr/>
          <p:nvPr/>
        </p:nvSpPr>
        <p:spPr>
          <a:xfrm>
            <a:off x="9570110" y="1191463"/>
            <a:ext cx="2018995" cy="914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26"/>
          <p:cNvSpPr txBox="1"/>
          <p:nvPr/>
        </p:nvSpPr>
        <p:spPr>
          <a:xfrm>
            <a:off x="9186977" y="952805"/>
            <a:ext cx="2403043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12 Cuentos Peregrinos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Shape 28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1"/>
          <a:srcRect l="-4000" r="-4000"/>
          <a:stretch/>
        </p:blipFill>
        <p:spPr>
          <a:xfrm>
            <a:off x="609905" y="6577279"/>
            <a:ext cx="123444" cy="114300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847649" y="6548018"/>
            <a:ext cx="1571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Transición de Acto</a:t>
            </a:r>
            <a:endParaRPr lang="en-US" sz="900" dirty="0"/>
          </a:p>
        </p:txBody>
      </p:sp>
      <p:sp>
        <p:nvSpPr>
          <p:cNvPr id="45" name="Text 30"/>
          <p:cNvSpPr txBox="1"/>
          <p:nvPr/>
        </p:nvSpPr>
        <p:spPr>
          <a:xfrm>
            <a:off x="4211726" y="6519672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A5B4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Neutro</a:t>
            </a:r>
            <a:endParaRPr lang="en-US" sz="12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2"/>
          <a:srcRect t="-384" b="-384"/>
          <a:stretch/>
        </p:blipFill>
        <p:spPr>
          <a:xfrm>
            <a:off x="5125212" y="6614770"/>
            <a:ext cx="952805" cy="38405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6229807" y="6519672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Rojo</a:t>
            </a:r>
            <a:endParaRPr lang="en-US" sz="1200" dirty="0"/>
          </a:p>
        </p:txBody>
      </p:sp>
      <p:sp>
        <p:nvSpPr>
          <p:cNvPr id="48" name="Text 32"/>
          <p:cNvSpPr txBox="1"/>
          <p:nvPr/>
        </p:nvSpPr>
        <p:spPr>
          <a:xfrm>
            <a:off x="9184234" y="6548018"/>
            <a:ext cx="22128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Luz roja invade el espacio</a:t>
            </a:r>
            <a:endParaRPr lang="en-US" sz="90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3"/>
          <a:srcRect l="-5467" r="-5467"/>
          <a:stretch/>
        </p:blipFill>
        <p:spPr>
          <a:xfrm>
            <a:off x="11487607" y="6577279"/>
            <a:ext cx="95098" cy="114300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605418" y="6548018"/>
            <a:ext cx="467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Efecto:</a:t>
            </a:r>
            <a:endParaRPr lang="en-US" sz="9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EF0E11C-87C2-AC04-4A77-2A1625AB6B1C}"/>
              </a:ext>
            </a:extLst>
          </p:cNvPr>
          <p:cNvSpPr txBox="1"/>
          <p:nvPr/>
        </p:nvSpPr>
        <p:spPr>
          <a:xfrm>
            <a:off x="8012431" y="3097877"/>
            <a:ext cx="412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 </a:t>
            </a:r>
            <a:r>
              <a:rPr lang="en-US" sz="1800" b="1" i="1" dirty="0">
                <a:solidFill>
                  <a:srgbClr val="636B84"/>
                </a:solidFill>
                <a:effectLst/>
                <a:latin typeface="Playfair Display" panose="00000500000000000000" pitchFamily="2" charset="0"/>
              </a:rPr>
              <a:t>I dreamed of you…</a:t>
            </a:r>
            <a:r>
              <a:rPr lang="en-US" sz="18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»</a:t>
            </a:r>
          </a:p>
          <a:p>
            <a:r>
              <a:rPr lang="en-US" sz="18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 </a:t>
            </a:r>
            <a:r>
              <a:rPr lang="en-US" sz="1800" b="1" i="1" dirty="0">
                <a:solidFill>
                  <a:srgbClr val="636B84"/>
                </a:solidFill>
                <a:effectLst/>
                <a:latin typeface="Playfair Display" panose="00000500000000000000" pitchFamily="2" charset="0"/>
              </a:rPr>
              <a:t>I left without saying goodbye…</a:t>
            </a:r>
            <a:r>
              <a:rPr lang="en-US" sz="18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»</a:t>
            </a:r>
          </a:p>
          <a:p>
            <a:r>
              <a:rPr lang="en-US" sz="18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 </a:t>
            </a:r>
            <a:r>
              <a:rPr lang="en-US" sz="1800" b="0" i="1" dirty="0">
                <a:solidFill>
                  <a:srgbClr val="636B84"/>
                </a:solidFill>
                <a:effectLst/>
                <a:latin typeface="Playfair Display" panose="00000500000000000000" pitchFamily="2" charset="0"/>
              </a:rPr>
              <a:t> </a:t>
            </a:r>
            <a:r>
              <a:rPr lang="en-US" sz="1800" b="1" i="1" dirty="0">
                <a:solidFill>
                  <a:srgbClr val="636B84"/>
                </a:solidFill>
                <a:effectLst/>
                <a:latin typeface="Playfair Display" panose="00000500000000000000" pitchFamily="2" charset="0"/>
              </a:rPr>
              <a:t>I was not who you thought I was…</a:t>
            </a:r>
            <a:r>
              <a:rPr lang="en-US" sz="1800" i="1" dirty="0">
                <a:solidFill>
                  <a:srgbClr val="CBD5E1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»</a:t>
            </a:r>
          </a:p>
          <a:p>
            <a:r>
              <a:rPr lang="en-US" sz="1800" b="0" i="1" dirty="0">
                <a:solidFill>
                  <a:srgbClr val="636B84"/>
                </a:solidFill>
                <a:effectLst/>
                <a:latin typeface="Playfair Display" panose="00000500000000000000" pitchFamily="2" charset="0"/>
              </a:rPr>
              <a:t> </a:t>
            </a:r>
            <a:endParaRPr lang="es-CO" i="1" dirty="0">
              <a:solidFill>
                <a:srgbClr val="636B84"/>
              </a:solidFill>
              <a:latin typeface="Playfair Display" panose="00000500000000000000" pitchFamily="2" charset="0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A0470BBE-19B6-FA7C-94C3-D9F4840E88B4}"/>
              </a:ext>
            </a:extLst>
          </p:cNvPr>
          <p:cNvSpPr txBox="1"/>
          <p:nvPr/>
        </p:nvSpPr>
        <p:spPr>
          <a:xfrm rot="16200000">
            <a:off x="7576259" y="3566618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Voces</a:t>
            </a:r>
            <a:endParaRPr lang="en-US" sz="9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5DB336B-DF2F-A4E3-B61E-45B59535553A}"/>
              </a:ext>
            </a:extLst>
          </p:cNvPr>
          <p:cNvSpPr txBox="1"/>
          <p:nvPr/>
        </p:nvSpPr>
        <p:spPr>
          <a:xfrm>
            <a:off x="7740039" y="4324272"/>
            <a:ext cx="3265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chemeClr val="bg1"/>
                </a:solidFill>
                <a:effectLst/>
                <a:latin typeface="Playfair Display" panose="00000500000000000000" pitchFamily="2" charset="0"/>
              </a:rPr>
              <a:t>Life does not always shout. </a:t>
            </a:r>
            <a:br>
              <a:rPr lang="en-US" sz="1800" i="0" dirty="0">
                <a:solidFill>
                  <a:schemeClr val="bg1"/>
                </a:solidFill>
                <a:effectLst/>
                <a:latin typeface="Playfair Display" panose="00000500000000000000" pitchFamily="2" charset="0"/>
              </a:rPr>
            </a:br>
            <a:r>
              <a:rPr lang="en-US" sz="1800" i="0" dirty="0">
                <a:solidFill>
                  <a:schemeClr val="bg1"/>
                </a:solidFill>
                <a:effectLst/>
                <a:latin typeface="Playfair Display" panose="00000500000000000000" pitchFamily="2" charset="0"/>
              </a:rPr>
              <a:t>Sometimes it </a:t>
            </a:r>
            <a:r>
              <a:rPr lang="en-US" sz="1800" b="1" i="0" dirty="0">
                <a:solidFill>
                  <a:srgbClr val="818CF8"/>
                </a:solidFill>
                <a:effectLst/>
                <a:latin typeface="Playfair Display" panose="00000500000000000000" pitchFamily="2" charset="0"/>
              </a:rPr>
              <a:t>whispers</a:t>
            </a:r>
            <a:r>
              <a:rPr lang="en-US" sz="1800" b="1" i="0" dirty="0">
                <a:solidFill>
                  <a:schemeClr val="bg1"/>
                </a:solidFill>
                <a:effectLst/>
                <a:latin typeface="Playfair Display" panose="00000500000000000000" pitchFamily="2" charset="0"/>
              </a:rPr>
              <a:t>…</a:t>
            </a:r>
            <a:endParaRPr lang="es-CO" dirty="0">
              <a:solidFill>
                <a:schemeClr val="bg1"/>
              </a:solidFill>
              <a:latin typeface="Playfair Display" panose="00000500000000000000" pitchFamily="2" charset="0"/>
            </a:endParaRP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000C3A7E-FDE6-1181-A21C-DA6891522ABD}"/>
              </a:ext>
            </a:extLst>
          </p:cNvPr>
          <p:cNvSpPr txBox="1"/>
          <p:nvPr/>
        </p:nvSpPr>
        <p:spPr>
          <a:xfrm>
            <a:off x="809244" y="4591203"/>
            <a:ext cx="28867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Mariposas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amarillas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en origami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grandes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colgadas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de tramoyas.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Maletas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pequeñas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hechas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con carton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colgadas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Mapas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intervenidos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con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rutas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y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recorridos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dibujados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, </a:t>
            </a:r>
            <a:r>
              <a:rPr lang="en-US" sz="1000" dirty="0" err="1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proyectados</a:t>
            </a:r>
            <a:r>
              <a:rPr lang="en-US" sz="1000" dirty="0">
                <a:solidFill>
                  <a:srgbClr val="E5E7EB"/>
                </a:solidFill>
                <a:latin typeface="Courier New" pitchFamily="34" charset="0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CD45587F-889D-5073-41BB-0C7A102C9B26}"/>
              </a:ext>
            </a:extLst>
          </p:cNvPr>
          <p:cNvSpPr txBox="1"/>
          <p:nvPr/>
        </p:nvSpPr>
        <p:spPr>
          <a:xfrm>
            <a:off x="800100" y="4234608"/>
            <a:ext cx="2922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kern="0" spc="105" dirty="0">
                <a:solidFill>
                  <a:srgbClr val="6B7280"/>
                </a:solidFill>
                <a:latin typeface="Courier New" pitchFamily="34" charset="0"/>
                <a:cs typeface="Courier New" pitchFamily="34" charset="-120"/>
              </a:rPr>
              <a:t>Escenografia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rcRect/>
          <a:stretch/>
        </p:blipFill>
        <p:spPr>
          <a:xfrm>
            <a:off x="4572000" y="-3810305"/>
            <a:ext cx="9525305" cy="9525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1904695" y="1143000"/>
            <a:ext cx="9525305" cy="9525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/>
          <a:stretch/>
        </p:blipFill>
        <p:spPr>
          <a:xfrm>
            <a:off x="4190695" y="1524305"/>
            <a:ext cx="3810305" cy="38103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l="-38887" r="-38887"/>
          <a:stretch/>
        </p:blipFill>
        <p:spPr>
          <a:xfrm>
            <a:off x="-66294" y="-234340"/>
            <a:ext cx="12191695" cy="68580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2149" b="-2149"/>
          <a:stretch/>
        </p:blipFill>
        <p:spPr>
          <a:xfrm>
            <a:off x="800100" y="3085186"/>
            <a:ext cx="9144" cy="28163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rcRect t="-2149" b="-2149"/>
          <a:stretch/>
        </p:blipFill>
        <p:spPr>
          <a:xfrm>
            <a:off x="800100" y="3748126"/>
            <a:ext cx="9144" cy="28163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rcRect t="-2149" b="-2149"/>
          <a:stretch/>
        </p:blipFill>
        <p:spPr>
          <a:xfrm>
            <a:off x="800100" y="4410151"/>
            <a:ext cx="9144" cy="281635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4219956" y="1352398"/>
            <a:ext cx="9144" cy="51242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3"/>
          <p:cNvSpPr/>
          <p:nvPr/>
        </p:nvSpPr>
        <p:spPr>
          <a:xfrm>
            <a:off x="609905" y="2704795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4205" y="2819095"/>
            <a:ext cx="152705" cy="152705"/>
          </a:xfrm>
          <a:prstGeom prst="rect">
            <a:avLst/>
          </a:prstGeom>
        </p:spPr>
      </p:pic>
      <p:sp>
        <p:nvSpPr>
          <p:cNvPr id="14" name="Text 4"/>
          <p:cNvSpPr txBox="1"/>
          <p:nvPr/>
        </p:nvSpPr>
        <p:spPr>
          <a:xfrm>
            <a:off x="1143000" y="2704795"/>
            <a:ext cx="10954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Música </a:t>
            </a:r>
            <a:endParaRPr lang="en-US" sz="1300" dirty="0"/>
          </a:p>
        </p:txBody>
      </p:sp>
      <p:sp>
        <p:nvSpPr>
          <p:cNvPr id="15" name="Text 5"/>
          <p:cNvSpPr txBox="1"/>
          <p:nvPr/>
        </p:nvSpPr>
        <p:spPr>
          <a:xfrm>
            <a:off x="1143000" y="2943454"/>
            <a:ext cx="12070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Tensión y deseo</a:t>
            </a:r>
            <a:endParaRPr lang="en-US" sz="1000" dirty="0"/>
          </a:p>
        </p:txBody>
      </p:sp>
      <p:sp>
        <p:nvSpPr>
          <p:cNvPr id="16" name="Shape 6"/>
          <p:cNvSpPr/>
          <p:nvPr/>
        </p:nvSpPr>
        <p:spPr>
          <a:xfrm>
            <a:off x="609905" y="3366821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733349" y="3481121"/>
            <a:ext cx="133502" cy="15270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143000" y="3366821"/>
            <a:ext cx="17053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Danza </a:t>
            </a:r>
            <a:endParaRPr lang="en-US" sz="13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3606394"/>
            <a:ext cx="1938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Conflicto interno y pasión</a:t>
            </a:r>
            <a:endParaRPr lang="en-US" sz="1000" dirty="0"/>
          </a:p>
        </p:txBody>
      </p:sp>
      <p:sp>
        <p:nvSpPr>
          <p:cNvPr id="28" name="Text 15"/>
          <p:cNvSpPr txBox="1"/>
          <p:nvPr/>
        </p:nvSpPr>
        <p:spPr>
          <a:xfrm>
            <a:off x="4610405" y="1123798"/>
            <a:ext cx="797357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EF4444">
                    <a:alpha val="1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9600" dirty="0"/>
          </a:p>
        </p:txBody>
      </p:sp>
      <p:sp>
        <p:nvSpPr>
          <p:cNvPr id="29" name="Text 16"/>
          <p:cNvSpPr txBox="1"/>
          <p:nvPr/>
        </p:nvSpPr>
        <p:spPr>
          <a:xfrm>
            <a:off x="4971269" y="1320964"/>
            <a:ext cx="2180844" cy="365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CA3AF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«La sangre llama...»</a:t>
            </a:r>
            <a:endParaRPr lang="en-US" sz="1800" dirty="0"/>
          </a:p>
        </p:txBody>
      </p:sp>
      <p:sp>
        <p:nvSpPr>
          <p:cNvPr id="31" name="Text 18"/>
          <p:cNvSpPr txBox="1"/>
          <p:nvPr/>
        </p:nvSpPr>
        <p:spPr>
          <a:xfrm>
            <a:off x="4966218" y="2446681"/>
            <a:ext cx="3123590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Soy quien piensa.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Soy quien decide...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EUREKA.</a:t>
            </a:r>
            <a:endParaRPr lang="en-US" sz="2400" dirty="0"/>
          </a:p>
        </p:txBody>
      </p:sp>
      <p:sp>
        <p:nvSpPr>
          <p:cNvPr id="32" name="Shape 19"/>
          <p:cNvSpPr/>
          <p:nvPr/>
        </p:nvSpPr>
        <p:spPr>
          <a:xfrm>
            <a:off x="5067605" y="5374843"/>
            <a:ext cx="1923898" cy="304495"/>
          </a:xfrm>
          <a:prstGeom prst="roundRect">
            <a:avLst>
              <a:gd name="adj" fmla="val 300300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0"/>
          <a:srcRect l="-7143" r="-7143"/>
          <a:stretch/>
        </p:blipFill>
        <p:spPr>
          <a:xfrm>
            <a:off x="5229454" y="5470855"/>
            <a:ext cx="114300" cy="1143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419649" y="5374843"/>
            <a:ext cx="14676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ECAC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Resolución de Eli</a:t>
            </a:r>
            <a:endParaRPr lang="en-US" sz="900" dirty="0"/>
          </a:p>
        </p:txBody>
      </p:sp>
      <p:sp>
        <p:nvSpPr>
          <p:cNvPr id="35" name="Text 21"/>
          <p:cNvSpPr txBox="1"/>
          <p:nvPr/>
        </p:nvSpPr>
        <p:spPr>
          <a:xfrm>
            <a:off x="609905" y="381305"/>
            <a:ext cx="4648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Narrativa</a:t>
            </a:r>
            <a:endParaRPr lang="en-US" sz="900" dirty="0"/>
          </a:p>
        </p:txBody>
      </p:sp>
      <p:sp>
        <p:nvSpPr>
          <p:cNvPr id="36" name="Text 22"/>
          <p:cNvSpPr txBox="1"/>
          <p:nvPr/>
        </p:nvSpPr>
        <p:spPr>
          <a:xfrm>
            <a:off x="609905" y="629107"/>
            <a:ext cx="667694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IV | La Pasión</a:t>
            </a:r>
            <a:endParaRPr lang="en-US" sz="4200" dirty="0"/>
          </a:p>
        </p:txBody>
      </p:sp>
      <p:sp>
        <p:nvSpPr>
          <p:cNvPr id="37" name="Shape 23"/>
          <p:cNvSpPr/>
          <p:nvPr/>
        </p:nvSpPr>
        <p:spPr>
          <a:xfrm>
            <a:off x="9956902" y="1191463"/>
            <a:ext cx="1628546" cy="91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24"/>
          <p:cNvSpPr txBox="1"/>
          <p:nvPr/>
        </p:nvSpPr>
        <p:spPr>
          <a:xfrm>
            <a:off x="9691726" y="952805"/>
            <a:ext cx="189463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Ref: Bodas de Sangre</a:t>
            </a:r>
            <a:endParaRPr lang="en-US" sz="1200" dirty="0"/>
          </a:p>
        </p:txBody>
      </p:sp>
      <p:sp>
        <p:nvSpPr>
          <p:cNvPr id="39" name="Shap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26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1"/>
          <a:srcRect l="-4000" r="-4000"/>
          <a:stretch/>
        </p:blipFill>
        <p:spPr>
          <a:xfrm>
            <a:off x="609905" y="6577279"/>
            <a:ext cx="123444" cy="11430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847649" y="6548018"/>
            <a:ext cx="1371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 err="1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Transición</a:t>
            </a:r>
            <a:r>
              <a:rPr lang="en-US" sz="900" kern="0" spc="9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900" kern="0" spc="90" dirty="0" err="1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escena</a:t>
            </a:r>
            <a:r>
              <a:rPr lang="en-US" sz="900" kern="0" spc="9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final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4015130" y="6519672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CA5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Pasión</a:t>
            </a:r>
            <a:endParaRPr lang="en-US" sz="1200" dirty="0"/>
          </a:p>
        </p:txBody>
      </p:sp>
      <p:sp>
        <p:nvSpPr>
          <p:cNvPr id="44" name="Text 29"/>
          <p:cNvSpPr txBox="1"/>
          <p:nvPr/>
        </p:nvSpPr>
        <p:spPr>
          <a:xfrm>
            <a:off x="6158484" y="6519672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Luz Total</a:t>
            </a:r>
            <a:endParaRPr lang="en-US" sz="1200" dirty="0"/>
          </a:p>
        </p:txBody>
      </p:sp>
      <p:sp>
        <p:nvSpPr>
          <p:cNvPr id="45" name="Text 30"/>
          <p:cNvSpPr txBox="1"/>
          <p:nvPr/>
        </p:nvSpPr>
        <p:spPr>
          <a:xfrm>
            <a:off x="9588398" y="6548018"/>
            <a:ext cx="17629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Luz Blanca → Oscuro</a:t>
            </a:r>
            <a:endParaRPr lang="en-US" sz="9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2"/>
          <a:srcRect l="-4000" r="-4000"/>
          <a:stretch/>
        </p:blipFill>
        <p:spPr>
          <a:xfrm>
            <a:off x="11458346" y="6577279"/>
            <a:ext cx="123444" cy="114300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3"/>
          <a:srcRect t="-400" b="-400"/>
          <a:stretch/>
        </p:blipFill>
        <p:spPr>
          <a:xfrm>
            <a:off x="4862779" y="6614770"/>
            <a:ext cx="1143000" cy="38405"/>
          </a:xfrm>
          <a:prstGeom prst="rect">
            <a:avLst/>
          </a:prstGeom>
        </p:spPr>
      </p:pic>
      <p:sp>
        <p:nvSpPr>
          <p:cNvPr id="48" name="Shape 31"/>
          <p:cNvSpPr/>
          <p:nvPr/>
        </p:nvSpPr>
        <p:spPr>
          <a:xfrm>
            <a:off x="5434279" y="6614770"/>
            <a:ext cx="571500" cy="3840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32"/>
          <p:cNvSpPr txBox="1"/>
          <p:nvPr/>
        </p:nvSpPr>
        <p:spPr>
          <a:xfrm>
            <a:off x="9009583" y="6548018"/>
            <a:ext cx="467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Efecto:</a:t>
            </a:r>
            <a:endParaRPr lang="en-US" sz="9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DA67270-DCCA-987B-5D20-C3F265A5F9EC}"/>
              </a:ext>
            </a:extLst>
          </p:cNvPr>
          <p:cNvSpPr txBox="1"/>
          <p:nvPr/>
        </p:nvSpPr>
        <p:spPr>
          <a:xfrm>
            <a:off x="8795714" y="2846992"/>
            <a:ext cx="1792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9CA3AF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 </a:t>
            </a:r>
            <a:r>
              <a:rPr lang="es-CO" i="1" dirty="0" err="1">
                <a:solidFill>
                  <a:srgbClr val="7E737B"/>
                </a:solidFill>
                <a:effectLst/>
                <a:latin typeface="Playfair Display" panose="00000500000000000000" pitchFamily="2" charset="0"/>
              </a:rPr>
              <a:t>Blood</a:t>
            </a:r>
            <a:r>
              <a:rPr lang="es-CO" i="1" dirty="0">
                <a:solidFill>
                  <a:srgbClr val="7E737B"/>
                </a:solidFill>
                <a:effectLst/>
                <a:latin typeface="Playfair Display" panose="00000500000000000000" pitchFamily="2" charset="0"/>
              </a:rPr>
              <a:t> </a:t>
            </a:r>
            <a:r>
              <a:rPr lang="es-CO" i="1" dirty="0" err="1">
                <a:solidFill>
                  <a:srgbClr val="7E737B"/>
                </a:solidFill>
                <a:effectLst/>
                <a:latin typeface="Playfair Display" panose="00000500000000000000" pitchFamily="2" charset="0"/>
              </a:rPr>
              <a:t>calls</a:t>
            </a:r>
            <a:r>
              <a:rPr lang="es-CO" i="1" dirty="0">
                <a:solidFill>
                  <a:srgbClr val="7E737B"/>
                </a:solidFill>
                <a:latin typeface="Playfair Display" panose="00000500000000000000" pitchFamily="2" charset="0"/>
              </a:rPr>
              <a:t>....</a:t>
            </a:r>
            <a:r>
              <a:rPr lang="en-US" sz="1800" i="1" dirty="0">
                <a:solidFill>
                  <a:srgbClr val="9CA3AF">
                    <a:alpha val="8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»</a:t>
            </a:r>
            <a:endParaRPr lang="es-CO" i="1" dirty="0">
              <a:solidFill>
                <a:srgbClr val="7E737B"/>
              </a:solidFill>
              <a:latin typeface="Playfair Display" panose="00000500000000000000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A16D25B-299E-A451-B1A9-D222A33ED999}"/>
              </a:ext>
            </a:extLst>
          </p:cNvPr>
          <p:cNvSpPr txBox="1"/>
          <p:nvPr/>
        </p:nvSpPr>
        <p:spPr>
          <a:xfrm>
            <a:off x="8768181" y="3545215"/>
            <a:ext cx="4428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rgbClr val="E2E8F0"/>
                </a:solidFill>
                <a:effectLst/>
                <a:latin typeface="Playfair Display" panose="00000500000000000000" pitchFamily="2" charset="0"/>
              </a:rPr>
              <a:t>I am the one who thinks. …</a:t>
            </a:r>
            <a:endParaRPr lang="en-US" dirty="0">
              <a:solidFill>
                <a:srgbClr val="E2E8F0"/>
              </a:solidFill>
              <a:latin typeface="Playfair Display" panose="00000500000000000000" pitchFamily="2" charset="0"/>
            </a:endParaRPr>
          </a:p>
          <a:p>
            <a:r>
              <a:rPr lang="en-US" sz="1800" i="0" dirty="0">
                <a:solidFill>
                  <a:srgbClr val="E2E8F0"/>
                </a:solidFill>
                <a:effectLst/>
                <a:latin typeface="Playfair Display" panose="00000500000000000000" pitchFamily="2" charset="0"/>
              </a:rPr>
              <a:t>I am the one who decides… </a:t>
            </a:r>
            <a:endParaRPr lang="es-CO" dirty="0">
              <a:solidFill>
                <a:srgbClr val="E2E8F0"/>
              </a:solidFill>
              <a:latin typeface="Playfair Display" panose="00000500000000000000" pitchFamily="2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F015E3-DBCD-0574-C054-FF468DBAB49F}"/>
              </a:ext>
            </a:extLst>
          </p:cNvPr>
          <p:cNvSpPr txBox="1"/>
          <p:nvPr/>
        </p:nvSpPr>
        <p:spPr>
          <a:xfrm>
            <a:off x="8830171" y="4225485"/>
            <a:ext cx="800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EUREKA.</a:t>
            </a:r>
            <a:endParaRPr lang="en-US" sz="1800" dirty="0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C81EAFBE-81CA-E5B1-1CDF-704B283F97F7}"/>
              </a:ext>
            </a:extLst>
          </p:cNvPr>
          <p:cNvSpPr txBox="1"/>
          <p:nvPr/>
        </p:nvSpPr>
        <p:spPr>
          <a:xfrm rot="16200000">
            <a:off x="4542510" y="1386687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Voces</a:t>
            </a:r>
            <a:endParaRPr lang="en-US" sz="900" dirty="0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5A4E4340-8296-43B8-E5C3-8722A0E119B2}"/>
              </a:ext>
            </a:extLst>
          </p:cNvPr>
          <p:cNvSpPr txBox="1"/>
          <p:nvPr/>
        </p:nvSpPr>
        <p:spPr>
          <a:xfrm rot="16200000">
            <a:off x="8490991" y="2895448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214109" y="-3667201"/>
            <a:ext cx="9525305" cy="9525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-1904695" y="1143000"/>
            <a:ext cx="9525305" cy="95253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/>
          <a:stretch/>
        </p:blipFill>
        <p:spPr>
          <a:xfrm>
            <a:off x="4190695" y="1524305"/>
            <a:ext cx="3810305" cy="38103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 t="-2149" b="-2149"/>
          <a:stretch/>
        </p:blipFill>
        <p:spPr>
          <a:xfrm>
            <a:off x="800100" y="3085186"/>
            <a:ext cx="9144" cy="28163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t="-2149" b="-2149"/>
          <a:stretch/>
        </p:blipFill>
        <p:spPr>
          <a:xfrm>
            <a:off x="800100" y="3748126"/>
            <a:ext cx="9144" cy="28163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rcRect t="-2149" b="-2149"/>
          <a:stretch/>
        </p:blipFill>
        <p:spPr>
          <a:xfrm>
            <a:off x="800100" y="4410151"/>
            <a:ext cx="9144" cy="281635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4219956" y="1352398"/>
            <a:ext cx="9144" cy="51242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3"/>
          <p:cNvSpPr/>
          <p:nvPr/>
        </p:nvSpPr>
        <p:spPr>
          <a:xfrm>
            <a:off x="609905" y="2704795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4205" y="2819095"/>
            <a:ext cx="152705" cy="152705"/>
          </a:xfrm>
          <a:prstGeom prst="rect">
            <a:avLst/>
          </a:prstGeom>
        </p:spPr>
      </p:pic>
      <p:sp>
        <p:nvSpPr>
          <p:cNvPr id="14" name="Text 4"/>
          <p:cNvSpPr txBox="1"/>
          <p:nvPr/>
        </p:nvSpPr>
        <p:spPr>
          <a:xfrm>
            <a:off x="1154151" y="2704795"/>
            <a:ext cx="10954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Música </a:t>
            </a:r>
            <a:endParaRPr lang="en-US" sz="1300" dirty="0"/>
          </a:p>
        </p:txBody>
      </p:sp>
      <p:sp>
        <p:nvSpPr>
          <p:cNvPr id="16" name="Shape 6"/>
          <p:cNvSpPr/>
          <p:nvPr/>
        </p:nvSpPr>
        <p:spPr>
          <a:xfrm>
            <a:off x="609905" y="3366821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733349" y="3481121"/>
            <a:ext cx="133502" cy="15270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143000" y="3366821"/>
            <a:ext cx="17053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Danza </a:t>
            </a:r>
            <a:endParaRPr lang="en-US" sz="13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3606394"/>
            <a:ext cx="1938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8" name="Text 15"/>
          <p:cNvSpPr txBox="1"/>
          <p:nvPr/>
        </p:nvSpPr>
        <p:spPr>
          <a:xfrm>
            <a:off x="4610405" y="1123798"/>
            <a:ext cx="797357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EF4444">
                    <a:alpha val="1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9600" dirty="0"/>
          </a:p>
        </p:txBody>
      </p:sp>
      <p:sp>
        <p:nvSpPr>
          <p:cNvPr id="31" name="Text 18"/>
          <p:cNvSpPr txBox="1"/>
          <p:nvPr/>
        </p:nvSpPr>
        <p:spPr>
          <a:xfrm>
            <a:off x="4897526" y="2298801"/>
            <a:ext cx="6453835" cy="149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En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este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espacio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la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narrativa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sera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presentada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por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los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estudiantes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del Diploma en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musica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y danza con base en un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texto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literario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de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escogencia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que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reflejen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esa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2700" dirty="0" err="1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conexion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con </a:t>
            </a:r>
            <a:r>
              <a:rPr lang="en-US" sz="2700" b="1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EUREKA</a:t>
            </a:r>
            <a:r>
              <a:rPr lang="en-US" sz="27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700" dirty="0"/>
          </a:p>
        </p:txBody>
      </p:sp>
      <p:sp>
        <p:nvSpPr>
          <p:cNvPr id="32" name="Shape 19"/>
          <p:cNvSpPr/>
          <p:nvPr/>
        </p:nvSpPr>
        <p:spPr>
          <a:xfrm>
            <a:off x="5067605" y="5374843"/>
            <a:ext cx="1923898" cy="304495"/>
          </a:xfrm>
          <a:prstGeom prst="roundRect">
            <a:avLst>
              <a:gd name="adj" fmla="val 300300"/>
            </a:avLst>
          </a:prstGeom>
          <a:solidFill>
            <a:srgbClr val="92D050">
              <a:alpha val="2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5229454" y="5470855"/>
            <a:ext cx="114300" cy="1143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5419649" y="5374843"/>
            <a:ext cx="14676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ECAC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Resolución de Eli</a:t>
            </a:r>
            <a:endParaRPr lang="en-US" sz="900" dirty="0"/>
          </a:p>
        </p:txBody>
      </p:sp>
      <p:sp>
        <p:nvSpPr>
          <p:cNvPr id="35" name="Text 21"/>
          <p:cNvSpPr txBox="1"/>
          <p:nvPr/>
        </p:nvSpPr>
        <p:spPr>
          <a:xfrm>
            <a:off x="609905" y="381305"/>
            <a:ext cx="4648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0" dirty="0">
                <a:solidFill>
                  <a:schemeClr val="accent6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Narrativa</a:t>
            </a:r>
            <a:endParaRPr lang="en-US" sz="9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 22"/>
          <p:cNvSpPr txBox="1"/>
          <p:nvPr/>
        </p:nvSpPr>
        <p:spPr>
          <a:xfrm>
            <a:off x="609905" y="629107"/>
            <a:ext cx="667694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</a:t>
            </a:r>
            <a:r>
              <a:rPr lang="en-US" sz="4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V | Eureka</a:t>
            </a:r>
            <a:endParaRPr lang="en-US" sz="4200" dirty="0"/>
          </a:p>
        </p:txBody>
      </p:sp>
      <p:sp>
        <p:nvSpPr>
          <p:cNvPr id="39" name="Shap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26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0"/>
          <a:srcRect l="-4000" r="-4000"/>
          <a:stretch/>
        </p:blipFill>
        <p:spPr>
          <a:xfrm>
            <a:off x="609905" y="6577279"/>
            <a:ext cx="123444" cy="11430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847649" y="6548018"/>
            <a:ext cx="1371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Transición Final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4015130" y="6519672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chemeClr val="accent6">
                    <a:lumMod val="60000"/>
                    <a:lumOff val="40000"/>
                  </a:schemeClr>
                </a:solidFill>
                <a:latin typeface="Montserrat" pitchFamily="34" charset="0"/>
              </a:rPr>
              <a:t>Alegria</a:t>
            </a: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Text 29"/>
          <p:cNvSpPr txBox="1"/>
          <p:nvPr/>
        </p:nvSpPr>
        <p:spPr>
          <a:xfrm>
            <a:off x="6158484" y="6519672"/>
            <a:ext cx="1057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Luz Total</a:t>
            </a:r>
            <a:endParaRPr lang="en-US" sz="1200" dirty="0"/>
          </a:p>
        </p:txBody>
      </p:sp>
      <p:sp>
        <p:nvSpPr>
          <p:cNvPr id="45" name="Text 30"/>
          <p:cNvSpPr txBox="1"/>
          <p:nvPr/>
        </p:nvSpPr>
        <p:spPr>
          <a:xfrm>
            <a:off x="9588398" y="6548018"/>
            <a:ext cx="17629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Luz </a:t>
            </a:r>
            <a:r>
              <a:rPr lang="en-US" sz="900" b="1" kern="0" spc="9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neutra</a:t>
            </a:r>
            <a:r>
              <a:rPr lang="en-US" sz="900" b="1" kern="0" spc="9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</a:t>
            </a:r>
            <a:r>
              <a:rPr lang="en-US" sz="900" b="1" kern="0" spc="9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clara</a:t>
            </a:r>
            <a:endParaRPr lang="en-US" sz="9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1"/>
          <a:srcRect l="-4000" r="-4000"/>
          <a:stretch/>
        </p:blipFill>
        <p:spPr>
          <a:xfrm>
            <a:off x="11458346" y="6577279"/>
            <a:ext cx="123444" cy="114300"/>
          </a:xfrm>
          <a:prstGeom prst="rect">
            <a:avLst/>
          </a:prstGeom>
        </p:spPr>
      </p:pic>
      <p:sp>
        <p:nvSpPr>
          <p:cNvPr id="48" name="Shape 31"/>
          <p:cNvSpPr/>
          <p:nvPr/>
        </p:nvSpPr>
        <p:spPr>
          <a:xfrm>
            <a:off x="5434279" y="6614770"/>
            <a:ext cx="571500" cy="38405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32"/>
          <p:cNvSpPr txBox="1"/>
          <p:nvPr/>
        </p:nvSpPr>
        <p:spPr>
          <a:xfrm>
            <a:off x="9009583" y="6548018"/>
            <a:ext cx="467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Efecto: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76072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429500" y="-2857500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3524098"/>
            <a:ext cx="6667805" cy="66678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14807" y="923544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Recursos Escénicos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609905" y="1762049"/>
            <a:ext cx="5372100" cy="2133295"/>
          </a:xfrm>
          <a:prstGeom prst="roundRect">
            <a:avLst>
              <a:gd name="adj" fmla="val 30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3330" y="2171700"/>
            <a:ext cx="142646" cy="19019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571854" y="2000707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Iluminación Dramática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1571854" y="2343607"/>
            <a:ext cx="4248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Evolución cromática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narrativa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cenital blanca (prólogo), atmósferas cálidas (amor) y frías (destino). Intensidad roja para la pasión y blanco total para el cierre.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6210605" y="1762049"/>
            <a:ext cx="5372100" cy="2133295"/>
          </a:xfrm>
          <a:prstGeom prst="roundRect">
            <a:avLst>
              <a:gd name="adj" fmla="val 30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96482" y="2171700"/>
            <a:ext cx="237744" cy="1901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172554" y="2000707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Paisaje Sonoro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7172554" y="2343607"/>
            <a:ext cx="4248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estratégico de silencios activos para generar tensión y efectos narrativos puntuales, como el trueno que marca la fractura en la transición del Acto I.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609905" y="4119372"/>
            <a:ext cx="5372100" cy="2133295"/>
          </a:xfrm>
          <a:prstGeom prst="roundRect">
            <a:avLst>
              <a:gd name="adj" fmla="val 30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9556" y="4529023"/>
            <a:ext cx="190195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571854" y="4358030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Transiciones y Ritmo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1571854" y="4700930"/>
            <a:ext cx="4248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Articulación fluida entre actos mediante oscuros parciales y contrastes térmicos visuales (cálido ↔ frío) que guían la emoción del espectador.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6210605" y="4119372"/>
            <a:ext cx="5372100" cy="2133295"/>
          </a:xfrm>
          <a:prstGeom prst="roundRect">
            <a:avLst>
              <a:gd name="adj" fmla="val 306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6629400" y="4529023"/>
            <a:ext cx="171907" cy="19019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172554" y="4358030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Espacio Escénico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7172554" y="4700930"/>
            <a:ext cx="4248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Minimalismo simbólico con escenario vacío, con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algunos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colgados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tramoyas para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dar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conexto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especial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5252314" y="694944"/>
            <a:ext cx="16943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Técnico y Visual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6476695" y="-1904695"/>
            <a:ext cx="7619695" cy="7619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2857500" y="1143000"/>
            <a:ext cx="8572500" cy="85725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09905" y="1295705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609905" y="381305"/>
            <a:ext cx="133502" cy="1527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57707" y="381305"/>
            <a:ext cx="1429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Lenguaje Corporal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609905" y="609905"/>
            <a:ext cx="6628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Propuesta Coreográfica</a:t>
            </a:r>
            <a:endParaRPr lang="en-US" sz="3600" dirty="0"/>
          </a:p>
        </p:txBody>
      </p:sp>
      <p:sp>
        <p:nvSpPr>
          <p:cNvPr id="11" name="Text 5"/>
          <p:cNvSpPr txBox="1"/>
          <p:nvPr/>
        </p:nvSpPr>
        <p:spPr>
          <a:xfrm>
            <a:off x="8500262" y="761695"/>
            <a:ext cx="308335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 err="1">
                <a:solidFill>
                  <a:srgbClr val="D1D5D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Intervenciones</a:t>
            </a:r>
            <a:r>
              <a:rPr lang="en-US" sz="1800" i="1" dirty="0">
                <a:solidFill>
                  <a:srgbClr val="D1D5D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de Danza</a:t>
            </a:r>
            <a:endParaRPr lang="en-US" sz="1800" dirty="0"/>
          </a:p>
        </p:txBody>
      </p:sp>
      <p:sp>
        <p:nvSpPr>
          <p:cNvPr id="12" name="Shape 6"/>
          <p:cNvSpPr/>
          <p:nvPr/>
        </p:nvSpPr>
        <p:spPr>
          <a:xfrm>
            <a:off x="609905" y="6086246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7"/>
          <p:cNvSpPr txBox="1"/>
          <p:nvPr/>
        </p:nvSpPr>
        <p:spPr>
          <a:xfrm>
            <a:off x="2610612" y="6248095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I: Amor y </a:t>
            </a:r>
            <a:r>
              <a:rPr lang="en-US" sz="1200" kern="0" spc="60" dirty="0" err="1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tragedia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4238244" y="6248095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II: Destino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002122" y="6324905"/>
            <a:ext cx="75895" cy="75895"/>
          </a:xfrm>
          <a:prstGeom prst="ellipse">
            <a:avLst/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0"/>
          <p:cNvSpPr txBox="1"/>
          <p:nvPr/>
        </p:nvSpPr>
        <p:spPr>
          <a:xfrm>
            <a:off x="6153912" y="6248095"/>
            <a:ext cx="1944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III: Cotidiano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177479" y="6324905"/>
            <a:ext cx="75895" cy="75895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2"/>
          <p:cNvSpPr txBox="1"/>
          <p:nvPr/>
        </p:nvSpPr>
        <p:spPr>
          <a:xfrm>
            <a:off x="8329270" y="6248095"/>
            <a:ext cx="1535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IV: Pasión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9905" y="1686154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l="-425" r="-425"/>
          <a:stretch/>
        </p:blipFill>
        <p:spPr>
          <a:xfrm>
            <a:off x="619049" y="1695298"/>
            <a:ext cx="38405" cy="83301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71754" y="1922069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B7185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1609344" y="1881835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Enamoramiento juvenil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609344" y="2171700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B7185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I: El Amor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248656" y="1922069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62956" y="2036369"/>
            <a:ext cx="152705" cy="152705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09905" y="2766974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rcRect l="-425" r="-425"/>
          <a:stretch/>
        </p:blipFill>
        <p:spPr>
          <a:xfrm>
            <a:off x="619049" y="2776118"/>
            <a:ext cx="38405" cy="83301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71754" y="3002890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DD4BF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36" name="Text 25"/>
          <p:cNvSpPr txBox="1"/>
          <p:nvPr/>
        </p:nvSpPr>
        <p:spPr>
          <a:xfrm>
            <a:off x="1609344" y="2962656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Jerarquía de los dioses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1609344" y="3252521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2DD4B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II: El Destino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5248656" y="3002890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5372100" y="3117190"/>
            <a:ext cx="133502" cy="152705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609905" y="3847795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0"/>
          <a:srcRect l="-425" r="-425"/>
          <a:stretch/>
        </p:blipFill>
        <p:spPr>
          <a:xfrm>
            <a:off x="619049" y="3857854"/>
            <a:ext cx="38405" cy="833018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771754" y="4083710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818CF8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50" name="Text 35"/>
          <p:cNvSpPr txBox="1"/>
          <p:nvPr/>
        </p:nvSpPr>
        <p:spPr>
          <a:xfrm>
            <a:off x="1609344" y="4043477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Historias cruzadas</a:t>
            </a:r>
            <a:endParaRPr lang="en-US" sz="1300" dirty="0"/>
          </a:p>
        </p:txBody>
      </p:sp>
      <p:sp>
        <p:nvSpPr>
          <p:cNvPr id="51" name="Text 36"/>
          <p:cNvSpPr txBox="1"/>
          <p:nvPr/>
        </p:nvSpPr>
        <p:spPr>
          <a:xfrm>
            <a:off x="1609344" y="4333342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18CF8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III: Lo Cotidiano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5248656" y="4083710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362956" y="4198010"/>
            <a:ext cx="152705" cy="152705"/>
          </a:xfrm>
          <a:prstGeom prst="rect">
            <a:avLst/>
          </a:prstGeom>
        </p:spPr>
      </p:pic>
      <p:sp>
        <p:nvSpPr>
          <p:cNvPr id="61" name="Shape 43"/>
          <p:cNvSpPr/>
          <p:nvPr/>
        </p:nvSpPr>
        <p:spPr>
          <a:xfrm>
            <a:off x="609905" y="4929530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2"/>
          <a:srcRect l="-425" r="-425"/>
          <a:stretch/>
        </p:blipFill>
        <p:spPr>
          <a:xfrm>
            <a:off x="619049" y="4938674"/>
            <a:ext cx="38405" cy="833018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771754" y="5164531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87171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3000" dirty="0"/>
          </a:p>
        </p:txBody>
      </p:sp>
      <p:sp>
        <p:nvSpPr>
          <p:cNvPr id="64" name="Text 45"/>
          <p:cNvSpPr txBox="1"/>
          <p:nvPr/>
        </p:nvSpPr>
        <p:spPr>
          <a:xfrm>
            <a:off x="1609344" y="5125212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Conflicto interno y pasión</a:t>
            </a:r>
            <a:endParaRPr lang="en-US" sz="1300" dirty="0"/>
          </a:p>
        </p:txBody>
      </p:sp>
      <p:sp>
        <p:nvSpPr>
          <p:cNvPr id="65" name="Text 46"/>
          <p:cNvSpPr txBox="1"/>
          <p:nvPr/>
        </p:nvSpPr>
        <p:spPr>
          <a:xfrm>
            <a:off x="1609344" y="5414162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7171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IV: La Pasión</a:t>
            </a:r>
            <a:endParaRPr lang="en-US" sz="900" dirty="0"/>
          </a:p>
        </p:txBody>
      </p:sp>
      <p:sp>
        <p:nvSpPr>
          <p:cNvPr id="66" name="Shape 47"/>
          <p:cNvSpPr/>
          <p:nvPr/>
        </p:nvSpPr>
        <p:spPr>
          <a:xfrm>
            <a:off x="5248656" y="5164531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13"/>
          <a:srcRect t="-100" b="-100"/>
          <a:stretch/>
        </p:blipFill>
        <p:spPr>
          <a:xfrm>
            <a:off x="5381244" y="5278831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6476695" y="-1904695"/>
            <a:ext cx="7619695" cy="7619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2857500" y="1143000"/>
            <a:ext cx="8572500" cy="85725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09905" y="1295705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905" y="381305"/>
            <a:ext cx="152705" cy="1527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75995" y="381305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Sonoro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609905" y="609905"/>
            <a:ext cx="51654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Propuesta Musical</a:t>
            </a:r>
            <a:endParaRPr lang="en-US" sz="3600" dirty="0"/>
          </a:p>
        </p:txBody>
      </p:sp>
      <p:sp>
        <p:nvSpPr>
          <p:cNvPr id="11" name="Text 5"/>
          <p:cNvSpPr txBox="1"/>
          <p:nvPr/>
        </p:nvSpPr>
        <p:spPr>
          <a:xfrm>
            <a:off x="9441180" y="761695"/>
            <a:ext cx="214243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D1D5D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Piezas Musicales</a:t>
            </a:r>
            <a:endParaRPr lang="en-US" sz="1800" dirty="0"/>
          </a:p>
        </p:txBody>
      </p:sp>
      <p:sp>
        <p:nvSpPr>
          <p:cNvPr id="12" name="Shape 6"/>
          <p:cNvSpPr/>
          <p:nvPr/>
        </p:nvSpPr>
        <p:spPr>
          <a:xfrm>
            <a:off x="609905" y="6086246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7"/>
          <p:cNvSpPr txBox="1"/>
          <p:nvPr/>
        </p:nvSpPr>
        <p:spPr>
          <a:xfrm>
            <a:off x="2610612" y="6248095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I: Amor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4238244" y="6248095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II: Destino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002122" y="6324905"/>
            <a:ext cx="75895" cy="75895"/>
          </a:xfrm>
          <a:prstGeom prst="ellipse">
            <a:avLst/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0"/>
          <p:cNvSpPr txBox="1"/>
          <p:nvPr/>
        </p:nvSpPr>
        <p:spPr>
          <a:xfrm>
            <a:off x="6153912" y="6248095"/>
            <a:ext cx="1944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III: Cotidiano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177479" y="6324905"/>
            <a:ext cx="75895" cy="75895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2"/>
          <p:cNvSpPr txBox="1"/>
          <p:nvPr/>
        </p:nvSpPr>
        <p:spPr>
          <a:xfrm>
            <a:off x="8329270" y="6248095"/>
            <a:ext cx="1535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IV: Pasión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9905" y="1686154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l="-425" r="-425"/>
          <a:stretch/>
        </p:blipFill>
        <p:spPr>
          <a:xfrm>
            <a:off x="619049" y="1695298"/>
            <a:ext cx="38405" cy="83301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71754" y="1922069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B7185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1609344" y="1881835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Nacimiento del amor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609344" y="2171700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B7185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I: El Amor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248656" y="1922069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5381244" y="2036369"/>
            <a:ext cx="114300" cy="152705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09905" y="2766974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rcRect l="-425" r="-425"/>
          <a:stretch/>
        </p:blipFill>
        <p:spPr>
          <a:xfrm>
            <a:off x="619049" y="2776118"/>
            <a:ext cx="38405" cy="83301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71754" y="3002890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DD4BF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36" name="Text 25"/>
          <p:cNvSpPr txBox="1"/>
          <p:nvPr/>
        </p:nvSpPr>
        <p:spPr>
          <a:xfrm>
            <a:off x="1609344" y="2962656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Ritual del destino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1609344" y="3252521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2DD4B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II: El Destino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5248656" y="3002890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5343754" y="3117190"/>
            <a:ext cx="190195" cy="152705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609905" y="3847795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0"/>
          <a:srcRect l="-425" r="-425"/>
          <a:stretch/>
        </p:blipFill>
        <p:spPr>
          <a:xfrm>
            <a:off x="619049" y="3857854"/>
            <a:ext cx="38405" cy="833018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771754" y="4083710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818CF8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50" name="Text 35"/>
          <p:cNvSpPr txBox="1"/>
          <p:nvPr/>
        </p:nvSpPr>
        <p:spPr>
          <a:xfrm>
            <a:off x="1609344" y="4043477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Viajes y encuentros</a:t>
            </a:r>
            <a:endParaRPr lang="en-US" sz="1300" dirty="0"/>
          </a:p>
        </p:txBody>
      </p:sp>
      <p:sp>
        <p:nvSpPr>
          <p:cNvPr id="51" name="Text 36"/>
          <p:cNvSpPr txBox="1"/>
          <p:nvPr/>
        </p:nvSpPr>
        <p:spPr>
          <a:xfrm>
            <a:off x="1609344" y="4333342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18CF8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III: Lo Cotidiano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5248656" y="4083710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362956" y="4198010"/>
            <a:ext cx="152705" cy="152705"/>
          </a:xfrm>
          <a:prstGeom prst="rect">
            <a:avLst/>
          </a:prstGeom>
        </p:spPr>
      </p:pic>
      <p:sp>
        <p:nvSpPr>
          <p:cNvPr id="61" name="Shape 43"/>
          <p:cNvSpPr/>
          <p:nvPr/>
        </p:nvSpPr>
        <p:spPr>
          <a:xfrm>
            <a:off x="609905" y="4929530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2"/>
          <a:srcRect l="-425" r="-425"/>
          <a:stretch/>
        </p:blipFill>
        <p:spPr>
          <a:xfrm>
            <a:off x="619049" y="4938674"/>
            <a:ext cx="38405" cy="833018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771754" y="5164531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87171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3000" dirty="0"/>
          </a:p>
        </p:txBody>
      </p:sp>
      <p:sp>
        <p:nvSpPr>
          <p:cNvPr id="64" name="Text 45"/>
          <p:cNvSpPr txBox="1"/>
          <p:nvPr/>
        </p:nvSpPr>
        <p:spPr>
          <a:xfrm>
            <a:off x="1609344" y="5125212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Tensión y deseo</a:t>
            </a:r>
            <a:endParaRPr lang="en-US" sz="1300" dirty="0"/>
          </a:p>
        </p:txBody>
      </p:sp>
      <p:sp>
        <p:nvSpPr>
          <p:cNvPr id="65" name="Text 46"/>
          <p:cNvSpPr txBox="1"/>
          <p:nvPr/>
        </p:nvSpPr>
        <p:spPr>
          <a:xfrm>
            <a:off x="1609344" y="5414162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7171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IV: La Pasión</a:t>
            </a:r>
            <a:endParaRPr lang="en-US" sz="900" dirty="0"/>
          </a:p>
        </p:txBody>
      </p:sp>
      <p:sp>
        <p:nvSpPr>
          <p:cNvPr id="66" name="Shape 47"/>
          <p:cNvSpPr/>
          <p:nvPr/>
        </p:nvSpPr>
        <p:spPr>
          <a:xfrm>
            <a:off x="5248656" y="5164531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13"/>
          <a:srcRect t="-100" b="-100"/>
          <a:stretch/>
        </p:blipFill>
        <p:spPr>
          <a:xfrm>
            <a:off x="5381244" y="5278831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6476695" y="-1904695"/>
            <a:ext cx="7619695" cy="7619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2857500" y="1143000"/>
            <a:ext cx="8572500" cy="85725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09905" y="1295705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4"/>
          <p:cNvSpPr txBox="1"/>
          <p:nvPr/>
        </p:nvSpPr>
        <p:spPr>
          <a:xfrm>
            <a:off x="622316" y="506945"/>
            <a:ext cx="51654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Propuesta</a:t>
            </a: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Escenografica</a:t>
            </a:r>
            <a:endParaRPr lang="en-US" sz="3600" dirty="0"/>
          </a:p>
        </p:txBody>
      </p:sp>
      <p:sp>
        <p:nvSpPr>
          <p:cNvPr id="11" name="Text 5"/>
          <p:cNvSpPr txBox="1"/>
          <p:nvPr/>
        </p:nvSpPr>
        <p:spPr>
          <a:xfrm>
            <a:off x="9441180" y="761695"/>
            <a:ext cx="214243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D1D5D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Escenografia y </a:t>
            </a:r>
            <a:r>
              <a:rPr lang="en-US" sz="1800" i="1" dirty="0" err="1">
                <a:solidFill>
                  <a:srgbClr val="D1D5D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utileria</a:t>
            </a:r>
            <a:r>
              <a:rPr lang="en-US" sz="1800" i="1" dirty="0">
                <a:solidFill>
                  <a:srgbClr val="D1D5D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endParaRPr lang="en-US" sz="1800" dirty="0"/>
          </a:p>
        </p:txBody>
      </p:sp>
      <p:sp>
        <p:nvSpPr>
          <p:cNvPr id="12" name="Shape 6"/>
          <p:cNvSpPr/>
          <p:nvPr/>
        </p:nvSpPr>
        <p:spPr>
          <a:xfrm>
            <a:off x="609905" y="6086246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7"/>
          <p:cNvSpPr txBox="1"/>
          <p:nvPr/>
        </p:nvSpPr>
        <p:spPr>
          <a:xfrm>
            <a:off x="2610612" y="6248095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I: Amor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4238244" y="6248095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II: Destino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002122" y="6324905"/>
            <a:ext cx="75895" cy="75895"/>
          </a:xfrm>
          <a:prstGeom prst="ellipse">
            <a:avLst/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0"/>
          <p:cNvSpPr txBox="1"/>
          <p:nvPr/>
        </p:nvSpPr>
        <p:spPr>
          <a:xfrm>
            <a:off x="6153912" y="6248095"/>
            <a:ext cx="1944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III: Cotidiano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177479" y="6324905"/>
            <a:ext cx="75895" cy="75895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2"/>
          <p:cNvSpPr txBox="1"/>
          <p:nvPr/>
        </p:nvSpPr>
        <p:spPr>
          <a:xfrm>
            <a:off x="8329270" y="6248095"/>
            <a:ext cx="1535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IV: Pasión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9905" y="1686154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l="-425" r="-425"/>
          <a:stretch/>
        </p:blipFill>
        <p:spPr>
          <a:xfrm>
            <a:off x="619049" y="1695298"/>
            <a:ext cx="38405" cy="83301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71754" y="1922069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B7185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22" name="Text 15"/>
          <p:cNvSpPr txBox="1"/>
          <p:nvPr/>
        </p:nvSpPr>
        <p:spPr>
          <a:xfrm>
            <a:off x="1609344" y="1881835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Fondos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de las 4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escenas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mas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importantes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pintadas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por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los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estudiantes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609344" y="2271014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B7185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I: El Amor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248656" y="1922069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5381244" y="2036369"/>
            <a:ext cx="114300" cy="152705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09905" y="2766974"/>
            <a:ext cx="5257800" cy="935431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7"/>
          <a:srcRect l="-425" r="-425"/>
          <a:stretch/>
        </p:blipFill>
        <p:spPr>
          <a:xfrm>
            <a:off x="619049" y="2776118"/>
            <a:ext cx="38405" cy="83301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71754" y="3002890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DD4BF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36" name="Text 25"/>
          <p:cNvSpPr txBox="1"/>
          <p:nvPr/>
        </p:nvSpPr>
        <p:spPr>
          <a:xfrm>
            <a:off x="1609344" y="2962656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Fondo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con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dibujos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de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panteon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griego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. 2 dioses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griegos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pintados y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colgados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a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los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costados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1620775" y="3462832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2DD4B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II: El Destino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5248656" y="3002890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5343754" y="3117190"/>
            <a:ext cx="190195" cy="152705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609905" y="3847795"/>
            <a:ext cx="5257800" cy="976579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9"/>
          <a:srcRect l="-425" r="-425"/>
          <a:stretch/>
        </p:blipFill>
        <p:spPr>
          <a:xfrm>
            <a:off x="619049" y="3857854"/>
            <a:ext cx="38405" cy="833018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771754" y="4083710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818CF8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50" name="Text 35"/>
          <p:cNvSpPr txBox="1"/>
          <p:nvPr/>
        </p:nvSpPr>
        <p:spPr>
          <a:xfrm>
            <a:off x="1609344" y="4043477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Maletas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hechas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con carton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colgadas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de tramoyas, Mariposas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amarillas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en origami,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fondos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de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mapas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intervenidos</a:t>
            </a:r>
            <a:endParaRPr lang="en-US" sz="1300" dirty="0"/>
          </a:p>
        </p:txBody>
      </p:sp>
      <p:sp>
        <p:nvSpPr>
          <p:cNvPr id="51" name="Text 36"/>
          <p:cNvSpPr txBox="1"/>
          <p:nvPr/>
        </p:nvSpPr>
        <p:spPr>
          <a:xfrm>
            <a:off x="1609344" y="4582058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18CF8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III: Lo Cotidiano</a:t>
            </a:r>
            <a:endParaRPr lang="en-US" sz="900" dirty="0"/>
          </a:p>
        </p:txBody>
      </p:sp>
      <p:sp>
        <p:nvSpPr>
          <p:cNvPr id="52" name="Shape 37"/>
          <p:cNvSpPr/>
          <p:nvPr/>
        </p:nvSpPr>
        <p:spPr>
          <a:xfrm>
            <a:off x="5248656" y="4083710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362956" y="4198010"/>
            <a:ext cx="152705" cy="152705"/>
          </a:xfrm>
          <a:prstGeom prst="rect">
            <a:avLst/>
          </a:prstGeom>
        </p:spPr>
      </p:pic>
      <p:sp>
        <p:nvSpPr>
          <p:cNvPr id="61" name="Shape 43"/>
          <p:cNvSpPr/>
          <p:nvPr/>
        </p:nvSpPr>
        <p:spPr>
          <a:xfrm>
            <a:off x="609905" y="4929530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1"/>
          <a:srcRect l="-425" r="-425"/>
          <a:stretch/>
        </p:blipFill>
        <p:spPr>
          <a:xfrm>
            <a:off x="619049" y="4938674"/>
            <a:ext cx="38405" cy="833018"/>
          </a:xfrm>
          <a:prstGeom prst="rect">
            <a:avLst/>
          </a:prstGeom>
        </p:spPr>
      </p:pic>
      <p:sp>
        <p:nvSpPr>
          <p:cNvPr id="63" name="Text 44"/>
          <p:cNvSpPr txBox="1"/>
          <p:nvPr/>
        </p:nvSpPr>
        <p:spPr>
          <a:xfrm>
            <a:off x="771754" y="5164531"/>
            <a:ext cx="648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87171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3000" dirty="0"/>
          </a:p>
        </p:txBody>
      </p:sp>
      <p:sp>
        <p:nvSpPr>
          <p:cNvPr id="64" name="Text 45"/>
          <p:cNvSpPr txBox="1"/>
          <p:nvPr/>
        </p:nvSpPr>
        <p:spPr>
          <a:xfrm>
            <a:off x="1609344" y="5125212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rojas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colgando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circulos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aluminio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girando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colgando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,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luna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proyectada</a:t>
            </a:r>
            <a:endParaRPr lang="en-US" sz="1300" dirty="0"/>
          </a:p>
        </p:txBody>
      </p:sp>
      <p:sp>
        <p:nvSpPr>
          <p:cNvPr id="65" name="Text 46"/>
          <p:cNvSpPr txBox="1"/>
          <p:nvPr/>
        </p:nvSpPr>
        <p:spPr>
          <a:xfrm>
            <a:off x="1609344" y="5518404"/>
            <a:ext cx="3600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87171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 IV: La Pasión</a:t>
            </a:r>
            <a:endParaRPr lang="en-US" sz="900" dirty="0"/>
          </a:p>
        </p:txBody>
      </p:sp>
      <p:sp>
        <p:nvSpPr>
          <p:cNvPr id="66" name="Shape 47"/>
          <p:cNvSpPr/>
          <p:nvPr/>
        </p:nvSpPr>
        <p:spPr>
          <a:xfrm>
            <a:off x="5248656" y="5164531"/>
            <a:ext cx="381305" cy="381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12"/>
          <a:srcRect t="-100" b="-100"/>
          <a:stretch/>
        </p:blipFill>
        <p:spPr>
          <a:xfrm>
            <a:off x="5381244" y="5278831"/>
            <a:ext cx="114300" cy="152705"/>
          </a:xfrm>
          <a:prstGeom prst="rect">
            <a:avLst/>
          </a:prstGeom>
        </p:spPr>
      </p:pic>
      <p:sp>
        <p:nvSpPr>
          <p:cNvPr id="3" name="Shape 13">
            <a:extLst>
              <a:ext uri="{FF2B5EF4-FFF2-40B4-BE49-F238E27FC236}">
                <a16:creationId xmlns:a16="http://schemas.microsoft.com/office/drawing/2014/main" id="{1A3D5885-0B9B-6DCC-0840-52BB473B3AB1}"/>
              </a:ext>
            </a:extLst>
          </p:cNvPr>
          <p:cNvSpPr/>
          <p:nvPr/>
        </p:nvSpPr>
        <p:spPr>
          <a:xfrm>
            <a:off x="6476695" y="1695298"/>
            <a:ext cx="5257800" cy="857707"/>
          </a:xfrm>
          <a:prstGeom prst="roundRect">
            <a:avLst>
              <a:gd name="adj" fmla="val 142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5">
            <a:extLst>
              <a:ext uri="{FF2B5EF4-FFF2-40B4-BE49-F238E27FC236}">
                <a16:creationId xmlns:a16="http://schemas.microsoft.com/office/drawing/2014/main" id="{15B44397-3F95-ED4A-4FD1-8949BC63E9E9}"/>
              </a:ext>
            </a:extLst>
          </p:cNvPr>
          <p:cNvSpPr txBox="1"/>
          <p:nvPr/>
        </p:nvSpPr>
        <p:spPr>
          <a:xfrm>
            <a:off x="7134160" y="1937458"/>
            <a:ext cx="3600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Transversalmente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habran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letras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animadas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en las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transiciones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de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los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actos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 al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fondo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 que den context a la </a:t>
            </a:r>
            <a:r>
              <a:rPr lang="en-US" sz="1300" b="1" dirty="0" err="1">
                <a:solidFill>
                  <a:srgbClr val="E2E8F0"/>
                </a:solidFill>
                <a:latin typeface="Montserrat" pitchFamily="34" charset="0"/>
              </a:rPr>
              <a:t>escena</a:t>
            </a:r>
            <a:r>
              <a:rPr lang="en-US" sz="1300" b="1" dirty="0">
                <a:solidFill>
                  <a:srgbClr val="E2E8F0"/>
                </a:solidFill>
                <a:latin typeface="Montserrat" pitchFamily="34" charset="0"/>
              </a:rPr>
              <a:t>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15298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429500" y="-2857500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3524098"/>
            <a:ext cx="6667805" cy="666780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14807" y="923544"/>
            <a:ext cx="11163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Necesidades Técnicas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609905" y="1762049"/>
            <a:ext cx="5372100" cy="2238451"/>
          </a:xfrm>
          <a:prstGeom prst="roundRect">
            <a:avLst>
              <a:gd name="adj" fmla="val 278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028700" y="2152498"/>
            <a:ext cx="171907" cy="2286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571854" y="2000707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Sonido y Audio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1571854" y="2343607"/>
            <a:ext cx="42483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 profesional y consola digital. (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proporcionada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teatro) Requerimos micrófonos inalámbricos (diadema/lavalier para las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estudiantes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representaran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Eli) y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ambientales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..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6210605" y="1762049"/>
            <a:ext cx="5372100" cy="2238451"/>
          </a:xfrm>
          <a:prstGeom prst="roundRect">
            <a:avLst>
              <a:gd name="adj" fmla="val 2781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6629400" y="2152498"/>
            <a:ext cx="171907" cy="2286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172554" y="2000707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Iluminación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7172554" y="2343607"/>
            <a:ext cx="4248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basado en focos cenitales y laterales. Proyectores con capacidad de cambio de color (cálido/frío) controlados por DMX para transiciones suaves y cambios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atmósfera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proporcionados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teatro).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609905" y="4228186"/>
            <a:ext cx="5372100" cy="2029054"/>
          </a:xfrm>
          <a:prstGeom prst="roundRect">
            <a:avLst>
              <a:gd name="adj" fmla="val 338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972007" y="4618634"/>
            <a:ext cx="286207" cy="2286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571854" y="4465930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Utilería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571854" y="4808830"/>
            <a:ext cx="4248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 esenciales: el cuaderno de notas de Eli (protagonista) y un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libro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gigante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desarrollado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estudiantes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artes visuales) que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estara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colocado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un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costado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 scenario en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5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, no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interrumpiendo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transcurso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la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6210605" y="4228186"/>
            <a:ext cx="5372100" cy="2029054"/>
          </a:xfrm>
          <a:prstGeom prst="roundRect">
            <a:avLst>
              <a:gd name="adj" fmla="val 338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614770" y="4618634"/>
            <a:ext cx="200254" cy="2286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172554" y="4465930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Escenografía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7172554" y="4808830"/>
            <a:ext cx="4248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Espacio escénico vacío y adaptable ("Caja negra").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Fondo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proyecciones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animaciones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acuerdo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momento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escenico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colgados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tramoyas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acuerdo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escena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5257800" y="694944"/>
            <a:ext cx="1686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5B4FC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Producción y Logística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429500" y="-2857500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/>
          <a:stretch/>
        </p:blipFill>
        <p:spPr>
          <a:xfrm>
            <a:off x="-952805" y="3524098"/>
            <a:ext cx="6667805" cy="666780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62102" y="771754"/>
            <a:ext cx="11468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8" name="Shape 3"/>
          <p:cNvSpPr/>
          <p:nvPr/>
        </p:nvSpPr>
        <p:spPr>
          <a:xfrm>
            <a:off x="609905" y="1533449"/>
            <a:ext cx="5372100" cy="1952244"/>
          </a:xfrm>
          <a:prstGeom prst="roundRect">
            <a:avLst>
              <a:gd name="adj" fmla="val 365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4"/>
          <p:cNvSpPr txBox="1"/>
          <p:nvPr/>
        </p:nvSpPr>
        <p:spPr>
          <a:xfrm>
            <a:off x="1571854" y="1772107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</a:rPr>
              <a:t>Personal de </a:t>
            </a:r>
            <a:r>
              <a:rPr lang="en-US" sz="1300" b="1" dirty="0" err="1">
                <a:solidFill>
                  <a:srgbClr val="FFFFFF"/>
                </a:solidFill>
                <a:latin typeface="Playfair Display" pitchFamily="34" charset="0"/>
              </a:rPr>
              <a:t>apoyo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1571854" y="2115007"/>
            <a:ext cx="42483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Se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requiere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de personal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apoyo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para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el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montaje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instrumentos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y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escenografia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en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el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teatro al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igual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que para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el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desmontaje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y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transporte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</a:rPr>
              <a:t>regreso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</a:rPr>
              <a:t> al colegio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6243122" y="2462479"/>
            <a:ext cx="5372100" cy="1952244"/>
          </a:xfrm>
          <a:prstGeom prst="roundRect">
            <a:avLst>
              <a:gd name="adj" fmla="val 365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7"/>
          <p:cNvSpPr txBox="1"/>
          <p:nvPr/>
        </p:nvSpPr>
        <p:spPr>
          <a:xfrm>
            <a:off x="7265145" y="3151011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Espacios</a:t>
            </a: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de </a:t>
            </a:r>
            <a:r>
              <a:rPr lang="en-US" sz="1300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Ensayos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7210959" y="3546947"/>
            <a:ext cx="42483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Solicitud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de,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eventualmente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espacios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extra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ensayo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completar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las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ejecuciones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danza,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musica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artes visuales.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609905" y="3715207"/>
            <a:ext cx="5372100" cy="1952244"/>
          </a:xfrm>
          <a:prstGeom prst="roundRect">
            <a:avLst>
              <a:gd name="adj" fmla="val 365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0"/>
          <p:cNvSpPr txBox="1"/>
          <p:nvPr/>
        </p:nvSpPr>
        <p:spPr>
          <a:xfrm>
            <a:off x="1571854" y="3952951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Playfair Display" pitchFamily="34" charset="0"/>
              </a:rPr>
              <a:t>Estudiantes</a:t>
            </a: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</a:rPr>
              <a:t> de CAS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1571854" y="4295851"/>
            <a:ext cx="42483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require de un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varios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estudiantes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igualmente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apoyen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 en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transcurso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la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puesta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</a:t>
            </a:r>
            <a:r>
              <a:rPr lang="en-US" sz="1000" dirty="0" err="1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escena</a:t>
            </a: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.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1828800" y="5971946"/>
            <a:ext cx="85340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19"/>
          <p:cNvSpPr txBox="1"/>
          <p:nvPr/>
        </p:nvSpPr>
        <p:spPr>
          <a:xfrm>
            <a:off x="5541264" y="543154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Acción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1904695" y="-4762195"/>
            <a:ext cx="8572500" cy="8572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6476695" y="3047695"/>
            <a:ext cx="7619695" cy="76196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 l="-38887" r="-38887"/>
          <a:stretch/>
        </p:blipFill>
        <p:spPr>
          <a:xfrm>
            <a:off x="-137617" y="553212"/>
            <a:ext cx="12191695" cy="68580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9905" y="906171"/>
            <a:ext cx="5348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90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Tiempos</a:t>
            </a: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3600" b="1" kern="0" spc="90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Estimados</a:t>
            </a:r>
            <a:r>
              <a:rPr lang="en-US" sz="3600" b="1" kern="0" spc="9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3600" b="1" kern="0" spc="90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aproximados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9078163" y="771754"/>
            <a:ext cx="1390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52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Duración Total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10479938" y="714146"/>
            <a:ext cx="87325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90</a:t>
            </a: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min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3279038" y="6133795"/>
            <a:ext cx="1848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Cálido (Emoción)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543093" y="6133795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Frío (Razón)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311542" y="6133795"/>
            <a:ext cx="1877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Neutro (Humano)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916314" y="590702"/>
            <a:ext cx="2667305" cy="552298"/>
          </a:xfrm>
          <a:prstGeom prst="roundRect">
            <a:avLst>
              <a:gd name="adj" fmla="val 16556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714146" y="4352544"/>
            <a:ext cx="1619402" cy="1209751"/>
          </a:xfrm>
          <a:prstGeom prst="roundRect">
            <a:avLst>
              <a:gd name="adj" fmla="val 714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471" y="4515307"/>
            <a:ext cx="543154" cy="2761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55471" y="4515307"/>
            <a:ext cx="5431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 min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838505" y="4867351"/>
            <a:ext cx="1371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Prólogo</a:t>
            </a:r>
            <a:r>
              <a:rPr lang="en-US" sz="1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y </a:t>
            </a:r>
            <a:r>
              <a:rPr lang="en-US" sz="1300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transiciones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38505" y="527334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Pregunta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542946" y="1981505"/>
            <a:ext cx="1619402" cy="1209751"/>
          </a:xfrm>
          <a:prstGeom prst="roundRect">
            <a:avLst>
              <a:gd name="adj" fmla="val 714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3182" y="2143354"/>
            <a:ext cx="599846" cy="2761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053182" y="2143354"/>
            <a:ext cx="6007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1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2667305" y="2495398"/>
            <a:ext cx="1371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</a:t>
            </a:r>
            <a:endParaRPr lang="en-US" sz="13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2667305" y="276240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Amor y la </a:t>
            </a:r>
            <a:r>
              <a:rPr lang="en-US" sz="1200" kern="0" spc="6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tragedia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Shape 18"/>
          <p:cNvSpPr/>
          <p:nvPr/>
        </p:nvSpPr>
        <p:spPr>
          <a:xfrm>
            <a:off x="4371746" y="4352544"/>
            <a:ext cx="1619402" cy="1209751"/>
          </a:xfrm>
          <a:prstGeom prst="roundRect">
            <a:avLst>
              <a:gd name="adj" fmla="val 714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1982" y="4515307"/>
            <a:ext cx="599846" cy="27614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81982" y="4515307"/>
            <a:ext cx="6007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1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 20"/>
          <p:cNvSpPr txBox="1"/>
          <p:nvPr/>
        </p:nvSpPr>
        <p:spPr>
          <a:xfrm>
            <a:off x="4496105" y="4867351"/>
            <a:ext cx="1371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II</a:t>
            </a:r>
            <a:endParaRPr lang="en-US" sz="13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 21"/>
          <p:cNvSpPr txBox="1"/>
          <p:nvPr/>
        </p:nvSpPr>
        <p:spPr>
          <a:xfrm>
            <a:off x="4496105" y="51343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Destino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200546" y="1981505"/>
            <a:ext cx="1619402" cy="1209751"/>
          </a:xfrm>
          <a:prstGeom prst="roundRect">
            <a:avLst>
              <a:gd name="adj" fmla="val 714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0782" y="2143354"/>
            <a:ext cx="599846" cy="27614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10782" y="2143354"/>
            <a:ext cx="6007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1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6324905" y="2495398"/>
            <a:ext cx="1371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III</a:t>
            </a:r>
            <a:endParaRPr lang="en-US" sz="13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25"/>
          <p:cNvSpPr txBox="1"/>
          <p:nvPr/>
        </p:nvSpPr>
        <p:spPr>
          <a:xfrm>
            <a:off x="6324905" y="276240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Cotidiano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Shape 26"/>
          <p:cNvSpPr/>
          <p:nvPr/>
        </p:nvSpPr>
        <p:spPr>
          <a:xfrm>
            <a:off x="8029346" y="4352544"/>
            <a:ext cx="1619402" cy="1209751"/>
          </a:xfrm>
          <a:prstGeom prst="roundRect">
            <a:avLst>
              <a:gd name="adj" fmla="val 714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5068" y="4515307"/>
            <a:ext cx="590702" cy="276149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545068" y="4515307"/>
            <a:ext cx="59070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CAC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8153705" y="4867351"/>
            <a:ext cx="1371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Acto IV</a:t>
            </a:r>
            <a:endParaRPr lang="en-US" sz="1300" dirty="0"/>
          </a:p>
        </p:txBody>
      </p:sp>
      <p:sp>
        <p:nvSpPr>
          <p:cNvPr id="39" name="Text 29"/>
          <p:cNvSpPr txBox="1"/>
          <p:nvPr/>
        </p:nvSpPr>
        <p:spPr>
          <a:xfrm>
            <a:off x="8153705" y="51343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Pasión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Shape 30"/>
          <p:cNvSpPr/>
          <p:nvPr/>
        </p:nvSpPr>
        <p:spPr>
          <a:xfrm>
            <a:off x="9858146" y="1981505"/>
            <a:ext cx="1619402" cy="1209751"/>
          </a:xfrm>
          <a:prstGeom prst="roundRect">
            <a:avLst>
              <a:gd name="adj" fmla="val 714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9471" y="2143354"/>
            <a:ext cx="543154" cy="276149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0399471" y="2143354"/>
            <a:ext cx="5431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" name="Text 32"/>
          <p:cNvSpPr txBox="1"/>
          <p:nvPr/>
        </p:nvSpPr>
        <p:spPr>
          <a:xfrm>
            <a:off x="9982505" y="2495398"/>
            <a:ext cx="1371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Playfair Display" pitchFamily="34" charset="0"/>
              </a:rPr>
              <a:t>Acto</a:t>
            </a:r>
            <a:r>
              <a:rPr lang="en-US" sz="13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Playfair Display" pitchFamily="34" charset="0"/>
              </a:rPr>
              <a:t> V</a:t>
            </a:r>
            <a:endParaRPr lang="en-US" sz="13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Text 33"/>
          <p:cNvSpPr txBox="1"/>
          <p:nvPr/>
        </p:nvSpPr>
        <p:spPr>
          <a:xfrm>
            <a:off x="9982505" y="276240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34" charset="0"/>
              </a:rPr>
              <a:t>Eureka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9"/>
          <a:srcRect t="-402" b="-402"/>
          <a:stretch/>
        </p:blipFill>
        <p:spPr>
          <a:xfrm>
            <a:off x="1086307" y="3762756"/>
            <a:ext cx="10019995" cy="19202"/>
          </a:xfrm>
          <a:prstGeom prst="rect">
            <a:avLst/>
          </a:prstGeom>
        </p:spPr>
      </p:pic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482733" y="3495751"/>
            <a:ext cx="533095" cy="533095"/>
          </a:xfrm>
          <a:prstGeom prst="rect">
            <a:avLst/>
          </a:prstGeom>
        </p:spPr>
      </p:pic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691183" y="3648456"/>
            <a:ext cx="142646" cy="190195"/>
          </a:xfrm>
          <a:prstGeom prst="rect">
            <a:avLst/>
          </a:prstGeom>
        </p:spPr>
      </p:pic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733495" y="3504895"/>
            <a:ext cx="533095" cy="53309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3">
            <a:lum bright="70000" contrast="-70000"/>
          </a:blip>
          <a:srcRect/>
          <a:stretch/>
        </p:blipFill>
        <p:spPr>
          <a:xfrm>
            <a:off x="3905402" y="3676802"/>
            <a:ext cx="190195" cy="190195"/>
          </a:xfrm>
          <a:prstGeom prst="rect">
            <a:avLst/>
          </a:prstGeom>
        </p:spPr>
      </p:pic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649698" y="3477160"/>
            <a:ext cx="533095" cy="53309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4">
            <a:lum bright="70000" contrast="-70000"/>
          </a:blip>
          <a:srcRect l="-1648" r="-1648"/>
          <a:stretch/>
        </p:blipFill>
        <p:spPr>
          <a:xfrm>
            <a:off x="5829299" y="3609137"/>
            <a:ext cx="171907" cy="190195"/>
          </a:xfrm>
          <a:prstGeom prst="rect">
            <a:avLst/>
          </a:prstGeom>
        </p:spPr>
      </p:pic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391095" y="3504895"/>
            <a:ext cx="533095" cy="53309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5">
            <a:lum bright="70000" contrast="-70000"/>
          </a:blip>
          <a:srcRect/>
          <a:stretch/>
        </p:blipFill>
        <p:spPr>
          <a:xfrm>
            <a:off x="7563002" y="3676802"/>
            <a:ext cx="190195" cy="190195"/>
          </a:xfrm>
          <a:prstGeom prst="rect">
            <a:avLst/>
          </a:prstGeom>
        </p:spPr>
      </p:pic>
      <p:pic>
        <p:nvPicPr>
          <p:cNvPr id="54" name="Image 18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351574" y="3524555"/>
            <a:ext cx="533095" cy="533095"/>
          </a:xfrm>
          <a:prstGeom prst="rect">
            <a:avLst/>
          </a:prstGeom>
        </p:spPr>
      </p:pic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17"/>
          <a:srcRect l="-1648" r="-1648"/>
          <a:stretch/>
        </p:blipFill>
        <p:spPr>
          <a:xfrm>
            <a:off x="9536456" y="3704211"/>
            <a:ext cx="171907" cy="190195"/>
          </a:xfrm>
          <a:prstGeom prst="rect">
            <a:avLst/>
          </a:prstGeom>
        </p:spPr>
      </p:pic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1048695" y="3504895"/>
            <a:ext cx="533095" cy="533095"/>
          </a:xfrm>
          <a:prstGeom prst="rect">
            <a:avLst/>
          </a:prstGeom>
        </p:spPr>
      </p:pic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1220602" y="3676802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6476695" y="-1904695"/>
            <a:ext cx="7619695" cy="76196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-1904695" y="1143000"/>
            <a:ext cx="8572500" cy="85725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857500" y="190195"/>
            <a:ext cx="6476695" cy="6476695"/>
          </a:xfrm>
          <a:prstGeom prst="ellipse">
            <a:avLst/>
          </a:prstGeom>
          <a:noFill/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3"/>
          <p:cNvSpPr/>
          <p:nvPr/>
        </p:nvSpPr>
        <p:spPr>
          <a:xfrm>
            <a:off x="6086246" y="181051"/>
            <a:ext cx="95098" cy="9509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E11D48">
                <a:alpha val="10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4"/>
          <p:cNvSpPr/>
          <p:nvPr/>
        </p:nvSpPr>
        <p:spPr>
          <a:xfrm>
            <a:off x="6086246" y="6562649"/>
            <a:ext cx="95098" cy="9509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2DD4BF">
                <a:alpha val="10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7"/>
          <p:cNvSpPr txBox="1"/>
          <p:nvPr/>
        </p:nvSpPr>
        <p:spPr>
          <a:xfrm>
            <a:off x="3281782" y="2180844"/>
            <a:ext cx="6243523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kern="0" spc="480" dirty="0">
                <a:solidFill>
                  <a:srgbClr val="FFFFFF"/>
                </a:solidFill>
                <a:latin typeface="Playfair Display" pitchFamily="34" charset="0"/>
              </a:rPr>
              <a:t>GRACIAS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79131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2001</Words>
  <Application>Microsoft Office PowerPoint</Application>
  <PresentationFormat>Panorámica</PresentationFormat>
  <Paragraphs>394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Montserrat</vt:lpstr>
      <vt:lpstr>Playfair Display</vt:lpstr>
      <vt:lpstr>ui-sans-serif</vt:lpstr>
      <vt:lpstr>WordVisiCarriageReturn_MSFontService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Geraldine Carroll</cp:lastModifiedBy>
  <cp:revision>5</cp:revision>
  <dcterms:created xsi:type="dcterms:W3CDTF">2026-02-18T14:10:54Z</dcterms:created>
  <dcterms:modified xsi:type="dcterms:W3CDTF">2026-02-18T19:53:13Z</dcterms:modified>
</cp:coreProperties>
</file>